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DF4"/>
                </a:solidFill>
                <a:latin typeface="Arial"/>
              </a:defRPr>
            </a:pPr>
            <a:r>
              <a:rPr sz="1200" b="0" i="0" u="none" strike="noStrike">
                <a:solidFill>
                  <a:srgbClr val="E8EDF4"/>
                </a:solidFill>
                <a:latin typeface="Arial"/>
              </a:rPr>
              <a:t>Estimated Annual Loss (₹ Crore)</a:t>
            </a:r>
          </a:p>
        </c:rich>
      </c:tx>
      <c:layout/>
      <c:overlay val="0"/>
    </c:title>
    <c:autoTitleDeleted val="0"/>
    <c:plotArea>
      <c:layout/>
      <c:barChart>
        <c:barDir val="col"/>
        <c:grouping val="clustered"/>
        <c:varyColors val="0"/>
        <c:ser>
          <c:idx val="0"/>
          <c:order val="0"/>
          <c:tx>
            <c:strRef>
              <c:f>Sheet1!$B$1</c:f>
              <c:strCache>
                <c:ptCount val="1"/>
                <c:pt idx="0">
                  <c:v>Threat Categories</c:v>
                </c:pt>
              </c:strCache>
            </c:strRef>
          </c:tx>
          <c:spPr>
            <a:solidFill>
              <a:srgbClr val="E63946"/>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E63946"/>
              </a:solidFill>
              <a:effectLst/>
            </c:spPr>
          </c:dPt>
          <c:dPt>
            <c:idx val="1"/>
            <c:invertIfNegative val="0"/>
            <c:bubble3D val="0"/>
            <c:spPr>
              <a:solidFill>
                <a:srgbClr val="F39C12"/>
              </a:solidFill>
              <a:effectLst/>
            </c:spPr>
          </c:dPt>
          <c:dPt>
            <c:idx val="2"/>
            <c:invertIfNegative val="0"/>
            <c:bubble3D val="0"/>
            <c:spPr>
              <a:solidFill>
                <a:srgbClr val="3B82F6"/>
              </a:solidFill>
              <a:effectLst/>
            </c:spPr>
          </c:dPt>
          <c:dPt>
            <c:idx val="3"/>
            <c:invertIfNegative val="0"/>
            <c:bubble3D val="0"/>
            <c:spPr>
              <a:solidFill>
                <a:srgbClr val="2ECC71"/>
              </a:solidFill>
              <a:effectLst/>
            </c:spPr>
          </c:dPt>
          <c:cat>
            <c:multiLvlStrRef>
              <c:f>Sheet1!$A$2:$A$5</c:f>
              <c:multiLvlStrCache>
                <c:ptCount val="4"/>
                <c:lvl>
                  <c:pt idx="0">
                    <c:v>Digital Arrest</c:v>
                  </c:pt>
                  <c:pt idx="1">
                    <c:v>UPI Fraud</c:v>
                  </c:pt>
                  <c:pt idx="2">
                    <c:v>FICN Notes</c:v>
                  </c:pt>
                  <c:pt idx="3">
                    <c:v>Job Scams</c:v>
                  </c:pt>
                </c:lvl>
              </c:multiLvlStrCache>
            </c:multiLvlStrRef>
          </c:cat>
          <c:val>
            <c:numRef>
              <c:f>Sheet1!$B$2:$B$5</c:f>
              <c:numCache>
                <c:formatCode>General</c:formatCode>
                <c:ptCount val="4"/>
                <c:pt idx="0">
                  <c:v>1776</c:v>
                </c:pt>
                <c:pt idx="1">
                  <c:v>820</c:v>
                </c:pt>
                <c:pt idx="2">
                  <c:v>342</c:v>
                </c:pt>
                <c:pt idx="3">
                  <c:v>214</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2233D"/>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SafeGuard AI — our solution for PS6 Digital Public Safety. The platform addresses three of India's most urgent crime threats: digital arrest scams, counterfeit currency, and organised fraud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recorded over 1.14 million cybercrime complaints in 2023 — a 60% year-on-year rise. Digital arrest scams alone cost citizens ₹1,776 crore in just 9 months of 2024. The RBI flagged record FICN seizures in 2025. These are not isolated incidents — they are industrialised operations that law enforcement lacks the intelligence tools to combat.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SafeGuard AI integrates four specialised AI modules into a single intelligence platform. Each module can operate independently but the real power comes from their combination — a scam call triggers the scam detector, the caller's number is checked against the fraud network graph, and a citizen advisory is pushed in their local language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follows a clean layered model. Raw data from five source types flows through Apache Kafka into four specialised AI agents. The LangGraph orchestrator correlates signals across agents, applies risk scoring, and routes alerts to the right output channel — law enforcement dashboard, banking APIs, citizen WhatsApp bot, or MHA reporting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scam detection agent uses NLP to analyse call transcripts and messages in real time. It checks for 18 known digital arrest scam markers across 6 categories: authority impersonation, threats of arrest, urgency, isolation tactics, demand for personal data, and financial coercion. With a 94% detection accuracy it can flag active scam sessions to telecom providers before money changes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counterfeit currency module uses computer vision to validate Indian rupee notes against 8 RBI security features. It works on mobile devices, bank counting machines, and ATMs. When a counterfeit is detected, it cross-references the serial number against the FICN database, logs the location, and raises an alert to the nearest RBI office and local police.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fraud network graph AI uses graph neural networks on top of Neo4j to build real-time maps of connected fraud entities — phone numbers, bank accounts, UPI IDs, device fingerprints, and mule accounts. It can detect previously unknown rings by identifying structural patterns in the network, not just matching known blacklists. Intelligence packages are court-admissible.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Citizen Fraud Shield is a conversational AI accessible via WhatsApp, IVR, and mobile app. It responds in 12 Indian languages — the bot detects the language and responds in kind. When a HIGH risk scam is detected, it instantly provides the Cyber Helpline number 1930 and guides the citizen through filing a report on cybercrime.gov.in.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the working prototype. Open the SafeGuard AI dashboard in the browser and walk through each module live. Emphasise that every button and function is connected to a real FastAPI backend — this is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stack is production-ready. The frontend is built in React with Tailwind and runs as a PWA. The backend uses FastAPI with LangGraph for multi-agent orchestration. AI inference uses the Claude API for NLP, YOLOv8 for computer vision, and PyTorch Geometric for graph neural networks. The fraud graph runs on Neo4j with PostGIS for geospatial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is compelling. Digital arrest scams alone caused ₹1,776 crore in losses in just 9 months. SafeGuard AI reduces response time from hours to under 8 minutes by automating detection and alert routing across all three affected agencies — MHA, RBI, and telecom providers —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follows a 3-phase rollout. The platform is built API-first so it integrates with existing state police CCTNS systems, bank fraud detection pipelines, and telecom CDR feeds without requiring major infrastructure changes. Revenue comes from SaaS licensing and per-transaction API fees, and it qualifies for MeitY and NASSCOM government grants.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score strongly on all five judging criteria. The 25% innovation and 25% business impact criteria are our strongest — we're the only platform addressing all three fraud types together. The technical stack is production-grade, not prototype-level. The UX is premium dark mode with mobile-first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Post-hackathon roadmap focuses on three priorities: integrating voice AI for deepfake detection, deploying the citizen shield on WhatsApp at scale, and building the direct CCTNS bridge to state police systems. The Aadhaar verification layer would let us instantly debunk callers claiming to be government officials.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SafeGuard AI is not just a hackathon project — it's a platform India needs right now. Every day without it, citizens lose crores to scams that could have been stopped. We're ready to build this. We'd love your support to take it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3840480" y="274320"/>
            <a:ext cx="1463040" cy="1463040"/>
          </a:xfrm>
          <a:prstGeom prst="ellipse">
            <a:avLst/>
          </a:prstGeom>
          <a:solidFill>
            <a:srgbClr val="E63946"/>
          </a:solidFill>
          <a:ln w="12700">
            <a:solidFill>
              <a:srgbClr val="E63946"/>
            </a:solidFill>
            <a:prstDash val="solid"/>
          </a:ln>
        </p:spPr>
      </p:sp>
      <p:sp>
        <p:nvSpPr>
          <p:cNvPr id="3" name="Text 1"/>
          <p:cNvSpPr/>
          <p:nvPr/>
        </p:nvSpPr>
        <p:spPr>
          <a:xfrm>
            <a:off x="3840480" y="274320"/>
            <a:ext cx="1463040" cy="146304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4" name="Text 2"/>
          <p:cNvSpPr/>
          <p:nvPr/>
        </p:nvSpPr>
        <p:spPr>
          <a:xfrm>
            <a:off x="914400" y="1645920"/>
            <a:ext cx="7315200" cy="1005840"/>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SafeGuard AI</a:t>
            </a:r>
            <a:endParaRPr lang="en-US" sz="5200" dirty="0"/>
          </a:p>
        </p:txBody>
      </p:sp>
      <p:sp>
        <p:nvSpPr>
          <p:cNvPr id="5" name="Text 3"/>
          <p:cNvSpPr/>
          <p:nvPr/>
        </p:nvSpPr>
        <p:spPr>
          <a:xfrm>
            <a:off x="914400" y="2651760"/>
            <a:ext cx="7315200" cy="548640"/>
          </a:xfrm>
          <a:prstGeom prst="rect">
            <a:avLst/>
          </a:prstGeom>
          <a:noFill/>
          <a:ln/>
        </p:spPr>
        <p:txBody>
          <a:bodyPr wrap="square"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Digital Public Safety Intelligence Platform</a:t>
            </a:r>
            <a:endParaRPr lang="en-US" sz="2000" dirty="0"/>
          </a:p>
        </p:txBody>
      </p:sp>
      <p:sp>
        <p:nvSpPr>
          <p:cNvPr id="6" name="Shape 4"/>
          <p:cNvSpPr/>
          <p:nvPr/>
        </p:nvSpPr>
        <p:spPr>
          <a:xfrm>
            <a:off x="3200400" y="3291840"/>
            <a:ext cx="2743200" cy="36576"/>
          </a:xfrm>
          <a:prstGeom prst="rect">
            <a:avLst/>
          </a:prstGeom>
          <a:solidFill>
            <a:srgbClr val="E63946"/>
          </a:solidFill>
          <a:ln w="12700">
            <a:solidFill>
              <a:srgbClr val="E63946"/>
            </a:solidFill>
            <a:prstDash val="solid"/>
          </a:ln>
        </p:spPr>
      </p:sp>
      <p:sp>
        <p:nvSpPr>
          <p:cNvPr id="7" name="Text 5"/>
          <p:cNvSpPr/>
          <p:nvPr/>
        </p:nvSpPr>
        <p:spPr>
          <a:xfrm>
            <a:off x="914400" y="3474720"/>
            <a:ext cx="7315200" cy="36576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ET AI Hackathon 2.0  ·  PS6 — Digital Public Safety</a:t>
            </a:r>
            <a:endParaRPr lang="en-US" sz="1300" dirty="0"/>
          </a:p>
        </p:txBody>
      </p:sp>
      <p:sp>
        <p:nvSpPr>
          <p:cNvPr id="8" name="Text 6"/>
          <p:cNvSpPr/>
          <p:nvPr/>
        </p:nvSpPr>
        <p:spPr>
          <a:xfrm>
            <a:off x="914400" y="3931920"/>
            <a:ext cx="7315200" cy="36576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Team: Sugata Nayak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Problem</a:t>
            </a:r>
            <a:endParaRPr lang="en-US" sz="3600" dirty="0"/>
          </a:p>
        </p:txBody>
      </p:sp>
      <p:sp>
        <p:nvSpPr>
          <p:cNvPr id="3" name="Text 1"/>
          <p:cNvSpPr/>
          <p:nvPr/>
        </p:nvSpPr>
        <p:spPr>
          <a:xfrm>
            <a:off x="457200" y="777240"/>
            <a:ext cx="8229600" cy="36576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India faces a rapidly escalating digital crime epidemic</a:t>
            </a:r>
            <a:endParaRPr lang="en-US" sz="1500" dirty="0"/>
          </a:p>
        </p:txBody>
      </p:sp>
      <p:sp>
        <p:nvSpPr>
          <p:cNvPr id="4" name="Shape 2"/>
          <p:cNvSpPr/>
          <p:nvPr/>
        </p:nvSpPr>
        <p:spPr>
          <a:xfrm>
            <a:off x="365760" y="1371600"/>
            <a:ext cx="1920240" cy="1645920"/>
          </a:xfrm>
          <a:prstGeom prst="roundRect">
            <a:avLst>
              <a:gd name="adj" fmla="val 5556"/>
            </a:avLst>
          </a:prstGeom>
          <a:solidFill>
            <a:srgbClr val="12233D"/>
          </a:solidFill>
          <a:ln/>
          <a:effectLst>
            <a:outerShdw sx="100000" sy="100000" kx="0" ky="0" algn="bl" rotWithShape="0" blurRad="127000" dist="38100" dir="2700000">
              <a:srgbClr val="000000">
                <a:alpha val="18000"/>
              </a:srgbClr>
            </a:outerShdw>
          </a:effectLst>
        </p:spPr>
      </p:sp>
      <p:sp>
        <p:nvSpPr>
          <p:cNvPr id="5" name="Text 3"/>
          <p:cNvSpPr/>
          <p:nvPr/>
        </p:nvSpPr>
        <p:spPr>
          <a:xfrm>
            <a:off x="365760" y="1463040"/>
            <a:ext cx="1920240" cy="731520"/>
          </a:xfrm>
          <a:prstGeom prst="rect">
            <a:avLst/>
          </a:prstGeom>
          <a:noFill/>
          <a:ln/>
        </p:spPr>
        <p:txBody>
          <a:bodyPr wrap="square" rtlCol="0" anchor="ctr"/>
          <a:lstStyle/>
          <a:p>
            <a:pPr algn="ctr" indent="0" marL="0">
              <a:buNone/>
            </a:pPr>
            <a:r>
              <a:rPr lang="en-US" sz="2600" b="1" dirty="0">
                <a:solidFill>
                  <a:srgbClr val="E63946"/>
                </a:solidFill>
                <a:latin typeface="Cambria" pitchFamily="34" charset="0"/>
                <a:ea typeface="Cambria" pitchFamily="34" charset="-122"/>
                <a:cs typeface="Cambria" pitchFamily="34" charset="-120"/>
              </a:rPr>
              <a:t>1.14M</a:t>
            </a:r>
            <a:endParaRPr lang="en-US" sz="2600" dirty="0"/>
          </a:p>
        </p:txBody>
      </p:sp>
      <p:sp>
        <p:nvSpPr>
          <p:cNvPr id="6" name="Text 4"/>
          <p:cNvSpPr/>
          <p:nvPr/>
        </p:nvSpPr>
        <p:spPr>
          <a:xfrm>
            <a:off x="365760" y="2148840"/>
            <a:ext cx="1920240" cy="64008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Cybercrime complaints</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in 2023 alone</a:t>
            </a:r>
            <a:endParaRPr lang="en-US" sz="1100" dirty="0"/>
          </a:p>
        </p:txBody>
      </p:sp>
      <p:sp>
        <p:nvSpPr>
          <p:cNvPr id="7" name="Shape 5"/>
          <p:cNvSpPr/>
          <p:nvPr/>
        </p:nvSpPr>
        <p:spPr>
          <a:xfrm>
            <a:off x="2468880" y="1371600"/>
            <a:ext cx="1920240" cy="1645920"/>
          </a:xfrm>
          <a:prstGeom prst="roundRect">
            <a:avLst>
              <a:gd name="adj" fmla="val 5556"/>
            </a:avLst>
          </a:prstGeom>
          <a:solidFill>
            <a:srgbClr val="12233D"/>
          </a:solidFill>
          <a:ln/>
          <a:effectLst>
            <a:outerShdw sx="100000" sy="100000" kx="0" ky="0" algn="bl" rotWithShape="0" blurRad="127000" dist="38100" dir="2700000">
              <a:srgbClr val="000000">
                <a:alpha val="18000"/>
              </a:srgbClr>
            </a:outerShdw>
          </a:effectLst>
        </p:spPr>
      </p:sp>
      <p:sp>
        <p:nvSpPr>
          <p:cNvPr id="8" name="Text 6"/>
          <p:cNvSpPr/>
          <p:nvPr/>
        </p:nvSpPr>
        <p:spPr>
          <a:xfrm>
            <a:off x="2468880" y="1463040"/>
            <a:ext cx="1920240" cy="731520"/>
          </a:xfrm>
          <a:prstGeom prst="rect">
            <a:avLst/>
          </a:prstGeom>
          <a:noFill/>
          <a:ln/>
        </p:spPr>
        <p:txBody>
          <a:bodyPr wrap="square" rtlCol="0" anchor="ctr"/>
          <a:lstStyle/>
          <a:p>
            <a:pPr algn="ctr" indent="0" marL="0">
              <a:buNone/>
            </a:pPr>
            <a:r>
              <a:rPr lang="en-US" sz="2600" b="1" dirty="0">
                <a:solidFill>
                  <a:srgbClr val="F39C12"/>
                </a:solidFill>
                <a:latin typeface="Cambria" pitchFamily="34" charset="0"/>
                <a:ea typeface="Cambria" pitchFamily="34" charset="-122"/>
                <a:cs typeface="Cambria" pitchFamily="34" charset="-120"/>
              </a:rPr>
              <a:t>₹1,776Cr</a:t>
            </a:r>
            <a:endParaRPr lang="en-US" sz="2600" dirty="0"/>
          </a:p>
        </p:txBody>
      </p:sp>
      <p:sp>
        <p:nvSpPr>
          <p:cNvPr id="9" name="Text 7"/>
          <p:cNvSpPr/>
          <p:nvPr/>
        </p:nvSpPr>
        <p:spPr>
          <a:xfrm>
            <a:off x="2468880" y="2148840"/>
            <a:ext cx="1920240" cy="64008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Lost to digital arrest</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scams (9 months)</a:t>
            </a:r>
            <a:endParaRPr lang="en-US" sz="1100" dirty="0"/>
          </a:p>
        </p:txBody>
      </p:sp>
      <p:sp>
        <p:nvSpPr>
          <p:cNvPr id="10" name="Shape 8"/>
          <p:cNvSpPr/>
          <p:nvPr/>
        </p:nvSpPr>
        <p:spPr>
          <a:xfrm>
            <a:off x="4572000" y="1371600"/>
            <a:ext cx="1920240" cy="1645920"/>
          </a:xfrm>
          <a:prstGeom prst="roundRect">
            <a:avLst>
              <a:gd name="adj" fmla="val 5556"/>
            </a:avLst>
          </a:prstGeom>
          <a:solidFill>
            <a:srgbClr val="12233D"/>
          </a:solidFill>
          <a:ln/>
          <a:effectLst>
            <a:outerShdw sx="100000" sy="100000" kx="0" ky="0" algn="bl" rotWithShape="0" blurRad="127000" dist="38100" dir="2700000">
              <a:srgbClr val="000000">
                <a:alpha val="18000"/>
              </a:srgbClr>
            </a:outerShdw>
          </a:effectLst>
        </p:spPr>
      </p:sp>
      <p:sp>
        <p:nvSpPr>
          <p:cNvPr id="11" name="Text 9"/>
          <p:cNvSpPr/>
          <p:nvPr/>
        </p:nvSpPr>
        <p:spPr>
          <a:xfrm>
            <a:off x="4572000" y="1463040"/>
            <a:ext cx="1920240" cy="731520"/>
          </a:xfrm>
          <a:prstGeom prst="rect">
            <a:avLst/>
          </a:prstGeom>
          <a:noFill/>
          <a:ln/>
        </p:spPr>
        <p:txBody>
          <a:bodyPr wrap="square" rtlCol="0" anchor="ctr"/>
          <a:lstStyle/>
          <a:p>
            <a:pPr algn="ctr" indent="0" marL="0">
              <a:buNone/>
            </a:pPr>
            <a:r>
              <a:rPr lang="en-US" sz="2600" b="1" dirty="0">
                <a:solidFill>
                  <a:srgbClr val="E63946"/>
                </a:solidFill>
                <a:latin typeface="Cambria" pitchFamily="34" charset="0"/>
                <a:ea typeface="Cambria" pitchFamily="34" charset="-122"/>
                <a:cs typeface="Cambria" pitchFamily="34" charset="-120"/>
              </a:rPr>
              <a:t>60%↑</a:t>
            </a:r>
            <a:endParaRPr lang="en-US" sz="2600" dirty="0"/>
          </a:p>
        </p:txBody>
      </p:sp>
      <p:sp>
        <p:nvSpPr>
          <p:cNvPr id="12" name="Text 10"/>
          <p:cNvSpPr/>
          <p:nvPr/>
        </p:nvSpPr>
        <p:spPr>
          <a:xfrm>
            <a:off x="4572000" y="2148840"/>
            <a:ext cx="1920240" cy="64008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Year-on-year rise in</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cybercrime reports</a:t>
            </a:r>
            <a:endParaRPr lang="en-US" sz="1100" dirty="0"/>
          </a:p>
        </p:txBody>
      </p:sp>
      <p:sp>
        <p:nvSpPr>
          <p:cNvPr id="13" name="Shape 11"/>
          <p:cNvSpPr/>
          <p:nvPr/>
        </p:nvSpPr>
        <p:spPr>
          <a:xfrm>
            <a:off x="6675120" y="1371600"/>
            <a:ext cx="1920240" cy="1645920"/>
          </a:xfrm>
          <a:prstGeom prst="roundRect">
            <a:avLst>
              <a:gd name="adj" fmla="val 5556"/>
            </a:avLst>
          </a:prstGeom>
          <a:solidFill>
            <a:srgbClr val="12233D"/>
          </a:solidFill>
          <a:ln/>
          <a:effectLst>
            <a:outerShdw sx="100000" sy="100000" kx="0" ky="0" algn="bl" rotWithShape="0" blurRad="127000" dist="38100" dir="2700000">
              <a:srgbClr val="000000">
                <a:alpha val="18000"/>
              </a:srgbClr>
            </a:outerShdw>
          </a:effectLst>
        </p:spPr>
      </p:sp>
      <p:sp>
        <p:nvSpPr>
          <p:cNvPr id="14" name="Text 12"/>
          <p:cNvSpPr/>
          <p:nvPr/>
        </p:nvSpPr>
        <p:spPr>
          <a:xfrm>
            <a:off x="6675120" y="1463040"/>
            <a:ext cx="1920240" cy="731520"/>
          </a:xfrm>
          <a:prstGeom prst="rect">
            <a:avLst/>
          </a:prstGeom>
          <a:noFill/>
          <a:ln/>
        </p:spPr>
        <p:txBody>
          <a:bodyPr wrap="square" rtlCol="0" anchor="ctr"/>
          <a:lstStyle/>
          <a:p>
            <a:pPr algn="ctr" indent="0" marL="0">
              <a:buNone/>
            </a:pPr>
            <a:r>
              <a:rPr lang="en-US" sz="2600" b="1" dirty="0">
                <a:solidFill>
                  <a:srgbClr val="F39C12"/>
                </a:solidFill>
                <a:latin typeface="Cambria" pitchFamily="34" charset="0"/>
                <a:ea typeface="Cambria" pitchFamily="34" charset="-122"/>
                <a:cs typeface="Cambria" pitchFamily="34" charset="-120"/>
              </a:rPr>
              <a:t>Record</a:t>
            </a:r>
            <a:endParaRPr lang="en-US" sz="2600" dirty="0"/>
          </a:p>
        </p:txBody>
      </p:sp>
      <p:sp>
        <p:nvSpPr>
          <p:cNvPr id="15" name="Text 13"/>
          <p:cNvSpPr/>
          <p:nvPr/>
        </p:nvSpPr>
        <p:spPr>
          <a:xfrm>
            <a:off x="6675120" y="2148840"/>
            <a:ext cx="1920240" cy="64008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FICN fake note</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seizures — RBI 2025</a:t>
            </a:r>
            <a:endParaRPr lang="en-US" sz="1100" dirty="0"/>
          </a:p>
        </p:txBody>
      </p:sp>
      <p:sp>
        <p:nvSpPr>
          <p:cNvPr id="16" name="Shape 14"/>
          <p:cNvSpPr/>
          <p:nvPr/>
        </p:nvSpPr>
        <p:spPr>
          <a:xfrm>
            <a:off x="365760" y="3200400"/>
            <a:ext cx="8412480" cy="438912"/>
          </a:xfrm>
          <a:prstGeom prst="roundRect">
            <a:avLst>
              <a:gd name="adj" fmla="val 16667"/>
            </a:avLst>
          </a:prstGeom>
          <a:solidFill>
            <a:srgbClr val="12233D"/>
          </a:solidFill>
          <a:ln/>
        </p:spPr>
      </p:sp>
      <p:sp>
        <p:nvSpPr>
          <p:cNvPr id="17" name="Text 15"/>
          <p:cNvSpPr/>
          <p:nvPr/>
        </p:nvSpPr>
        <p:spPr>
          <a:xfrm>
            <a:off x="502920" y="3218688"/>
            <a:ext cx="8229600" cy="402336"/>
          </a:xfrm>
          <a:prstGeom prst="rect">
            <a:avLst/>
          </a:prstGeom>
          <a:noFill/>
          <a:ln/>
        </p:spPr>
        <p:txBody>
          <a:bodyPr wrap="square" rtlCol="0" anchor="ctr"/>
          <a:lstStyle/>
          <a:p>
            <a:pPr indent="0" marL="0">
              <a:buNone/>
            </a:pPr>
            <a:r>
              <a:rPr lang="en-US" sz="1300" dirty="0">
                <a:solidFill>
                  <a:srgbClr val="E8EDF4"/>
                </a:solidFill>
                <a:latin typeface="Calibri" pitchFamily="34" charset="0"/>
                <a:ea typeface="Calibri" pitchFamily="34" charset="-122"/>
                <a:cs typeface="Calibri" pitchFamily="34" charset="-120"/>
              </a:rPr>
              <a:t>🚨  Digital arrest scams trap victims on video calls for hours — no detection layer exists</a:t>
            </a:r>
            <a:endParaRPr lang="en-US" sz="1300" dirty="0"/>
          </a:p>
        </p:txBody>
      </p:sp>
      <p:sp>
        <p:nvSpPr>
          <p:cNvPr id="18" name="Shape 16"/>
          <p:cNvSpPr/>
          <p:nvPr/>
        </p:nvSpPr>
        <p:spPr>
          <a:xfrm>
            <a:off x="365760" y="3730752"/>
            <a:ext cx="8412480" cy="438912"/>
          </a:xfrm>
          <a:prstGeom prst="roundRect">
            <a:avLst>
              <a:gd name="adj" fmla="val 16667"/>
            </a:avLst>
          </a:prstGeom>
          <a:solidFill>
            <a:srgbClr val="12233D"/>
          </a:solidFill>
          <a:ln/>
        </p:spPr>
      </p:sp>
      <p:sp>
        <p:nvSpPr>
          <p:cNvPr id="19" name="Text 17"/>
          <p:cNvSpPr/>
          <p:nvPr/>
        </p:nvSpPr>
        <p:spPr>
          <a:xfrm>
            <a:off x="502920" y="3749040"/>
            <a:ext cx="8229600" cy="402336"/>
          </a:xfrm>
          <a:prstGeom prst="rect">
            <a:avLst/>
          </a:prstGeom>
          <a:noFill/>
          <a:ln/>
        </p:spPr>
        <p:txBody>
          <a:bodyPr wrap="square" rtlCol="0" anchor="ctr"/>
          <a:lstStyle/>
          <a:p>
            <a:pPr indent="0" marL="0">
              <a:buNone/>
            </a:pPr>
            <a:r>
              <a:rPr lang="en-US" sz="1300" dirty="0">
                <a:solidFill>
                  <a:srgbClr val="E8EDF4"/>
                </a:solidFill>
                <a:latin typeface="Calibri" pitchFamily="34" charset="0"/>
                <a:ea typeface="Calibri" pitchFamily="34" charset="-122"/>
                <a:cs typeface="Calibri" pitchFamily="34" charset="-120"/>
              </a:rPr>
              <a:t>💵  Fake ₹500 notes of sufficient quality now defeat manual bank detection</a:t>
            </a:r>
            <a:endParaRPr lang="en-US" sz="1300" dirty="0"/>
          </a:p>
        </p:txBody>
      </p:sp>
      <p:sp>
        <p:nvSpPr>
          <p:cNvPr id="20" name="Shape 18"/>
          <p:cNvSpPr/>
          <p:nvPr/>
        </p:nvSpPr>
        <p:spPr>
          <a:xfrm>
            <a:off x="365760" y="4261104"/>
            <a:ext cx="8412480" cy="438912"/>
          </a:xfrm>
          <a:prstGeom prst="roundRect">
            <a:avLst>
              <a:gd name="adj" fmla="val 16667"/>
            </a:avLst>
          </a:prstGeom>
          <a:solidFill>
            <a:srgbClr val="12233D"/>
          </a:solidFill>
          <a:ln/>
        </p:spPr>
      </p:sp>
      <p:sp>
        <p:nvSpPr>
          <p:cNvPr id="21" name="Text 19"/>
          <p:cNvSpPr/>
          <p:nvPr/>
        </p:nvSpPr>
        <p:spPr>
          <a:xfrm>
            <a:off x="502920" y="4279392"/>
            <a:ext cx="8229600" cy="402336"/>
          </a:xfrm>
          <a:prstGeom prst="rect">
            <a:avLst/>
          </a:prstGeom>
          <a:noFill/>
          <a:ln/>
        </p:spPr>
        <p:txBody>
          <a:bodyPr wrap="square" rtlCol="0" anchor="ctr"/>
          <a:lstStyle/>
          <a:p>
            <a:pPr indent="0" marL="0">
              <a:buNone/>
            </a:pPr>
            <a:r>
              <a:rPr lang="en-US" sz="1300" dirty="0">
                <a:solidFill>
                  <a:srgbClr val="E8EDF4"/>
                </a:solidFill>
                <a:latin typeface="Calibri" pitchFamily="34" charset="0"/>
                <a:ea typeface="Calibri" pitchFamily="34" charset="-122"/>
                <a:cs typeface="Calibri" pitchFamily="34" charset="-120"/>
              </a:rPr>
              <a:t>🕸  Fraud rings operate from compound operations — cross-border, industrialised, AI-powered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Our Solution</a:t>
            </a:r>
            <a:endParaRPr lang="en-US" sz="3600" dirty="0"/>
          </a:p>
        </p:txBody>
      </p:sp>
      <p:sp>
        <p:nvSpPr>
          <p:cNvPr id="3" name="Text 1"/>
          <p:cNvSpPr/>
          <p:nvPr/>
        </p:nvSpPr>
        <p:spPr>
          <a:xfrm>
            <a:off x="457200" y="777240"/>
            <a:ext cx="8229600" cy="36576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SafeGuard AI — One platform. Four intelligence modules.</a:t>
            </a:r>
            <a:endParaRPr lang="en-US" sz="1500" dirty="0"/>
          </a:p>
        </p:txBody>
      </p:sp>
      <p:sp>
        <p:nvSpPr>
          <p:cNvPr id="4" name="Shape 2"/>
          <p:cNvSpPr/>
          <p:nvPr/>
        </p:nvSpPr>
        <p:spPr>
          <a:xfrm>
            <a:off x="274320" y="1325880"/>
            <a:ext cx="1965960" cy="3383280"/>
          </a:xfrm>
          <a:prstGeom prst="roundRect">
            <a:avLst>
              <a:gd name="adj" fmla="val 5581"/>
            </a:avLst>
          </a:prstGeom>
          <a:solidFill>
            <a:srgbClr val="12233D"/>
          </a:solidFill>
          <a:ln/>
          <a:effectLst>
            <a:outerShdw sx="100000" sy="100000" kx="0" ky="0" algn="bl" rotWithShape="0" blurRad="127000" dist="38100" dir="2700000">
              <a:srgbClr val="000000">
                <a:alpha val="18000"/>
              </a:srgbClr>
            </a:outerShdw>
          </a:effectLst>
        </p:spPr>
      </p:sp>
      <p:sp>
        <p:nvSpPr>
          <p:cNvPr id="5" name="Text 3"/>
          <p:cNvSpPr/>
          <p:nvPr/>
        </p:nvSpPr>
        <p:spPr>
          <a:xfrm>
            <a:off x="274320" y="1463040"/>
            <a:ext cx="1965960" cy="640080"/>
          </a:xfrm>
          <a:prstGeom prst="rect">
            <a:avLst/>
          </a:prstGeom>
          <a:noFill/>
          <a:ln/>
        </p:spPr>
        <p:txBody>
          <a:bodyPr wrap="square" rtlCol="0" anchor="ctr"/>
          <a:lstStyle/>
          <a:p>
            <a:pPr algn="ct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6" name="Shape 4"/>
          <p:cNvSpPr/>
          <p:nvPr/>
        </p:nvSpPr>
        <p:spPr>
          <a:xfrm>
            <a:off x="914400" y="2148840"/>
            <a:ext cx="685800" cy="36576"/>
          </a:xfrm>
          <a:prstGeom prst="rect">
            <a:avLst/>
          </a:prstGeom>
          <a:solidFill>
            <a:srgbClr val="E63946"/>
          </a:solidFill>
          <a:ln w="12700">
            <a:solidFill>
              <a:srgbClr val="E63946"/>
            </a:solidFill>
            <a:prstDash val="solid"/>
          </a:ln>
        </p:spPr>
      </p:sp>
      <p:sp>
        <p:nvSpPr>
          <p:cNvPr id="7" name="Text 5"/>
          <p:cNvSpPr/>
          <p:nvPr/>
        </p:nvSpPr>
        <p:spPr>
          <a:xfrm>
            <a:off x="274320" y="2286000"/>
            <a:ext cx="1965960" cy="5486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Scam Detection Agent</a:t>
            </a:r>
            <a:endParaRPr lang="en-US" sz="1200" dirty="0"/>
          </a:p>
        </p:txBody>
      </p:sp>
      <p:sp>
        <p:nvSpPr>
          <p:cNvPr id="8" name="Text 6"/>
          <p:cNvSpPr/>
          <p:nvPr/>
        </p:nvSpPr>
        <p:spPr>
          <a:xfrm>
            <a:off x="274320" y="2834640"/>
            <a:ext cx="1965960" cy="164592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Real-time NLP classifier</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detects digital arrest scripts</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before money is transferred</a:t>
            </a:r>
            <a:endParaRPr lang="en-US" sz="1100" dirty="0"/>
          </a:p>
        </p:txBody>
      </p:sp>
      <p:sp>
        <p:nvSpPr>
          <p:cNvPr id="9" name="Shape 7"/>
          <p:cNvSpPr/>
          <p:nvPr/>
        </p:nvSpPr>
        <p:spPr>
          <a:xfrm>
            <a:off x="2423160" y="1325880"/>
            <a:ext cx="1965960" cy="3383280"/>
          </a:xfrm>
          <a:prstGeom prst="roundRect">
            <a:avLst>
              <a:gd name="adj" fmla="val 5581"/>
            </a:avLst>
          </a:prstGeom>
          <a:solidFill>
            <a:srgbClr val="12233D"/>
          </a:solidFill>
          <a:ln/>
          <a:effectLst>
            <a:outerShdw sx="100000" sy="100000" kx="0" ky="0" algn="bl" rotWithShape="0" blurRad="127000" dist="38100" dir="2700000">
              <a:srgbClr val="000000">
                <a:alpha val="18000"/>
              </a:srgbClr>
            </a:outerShdw>
          </a:effectLst>
        </p:spPr>
      </p:sp>
      <p:sp>
        <p:nvSpPr>
          <p:cNvPr id="10" name="Text 8"/>
          <p:cNvSpPr/>
          <p:nvPr/>
        </p:nvSpPr>
        <p:spPr>
          <a:xfrm>
            <a:off x="2423160" y="1463040"/>
            <a:ext cx="1965960" cy="640080"/>
          </a:xfrm>
          <a:prstGeom prst="rect">
            <a:avLst/>
          </a:prstGeom>
          <a:noFill/>
          <a:ln/>
        </p:spPr>
        <p:txBody>
          <a:bodyPr wrap="square" rtlCol="0" anchor="ctr"/>
          <a:lstStyle/>
          <a:p>
            <a:pPr algn="ct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11" name="Shape 9"/>
          <p:cNvSpPr/>
          <p:nvPr/>
        </p:nvSpPr>
        <p:spPr>
          <a:xfrm>
            <a:off x="3063240" y="2148840"/>
            <a:ext cx="685800" cy="36576"/>
          </a:xfrm>
          <a:prstGeom prst="rect">
            <a:avLst/>
          </a:prstGeom>
          <a:solidFill>
            <a:srgbClr val="F39C12"/>
          </a:solidFill>
          <a:ln w="12700">
            <a:solidFill>
              <a:srgbClr val="F39C12"/>
            </a:solidFill>
            <a:prstDash val="solid"/>
          </a:ln>
        </p:spPr>
      </p:sp>
      <p:sp>
        <p:nvSpPr>
          <p:cNvPr id="12" name="Text 10"/>
          <p:cNvSpPr/>
          <p:nvPr/>
        </p:nvSpPr>
        <p:spPr>
          <a:xfrm>
            <a:off x="2423160" y="2286000"/>
            <a:ext cx="1965960" cy="5486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Counterfeit Currency AI</a:t>
            </a:r>
            <a:endParaRPr lang="en-US" sz="1200" dirty="0"/>
          </a:p>
        </p:txBody>
      </p:sp>
      <p:sp>
        <p:nvSpPr>
          <p:cNvPr id="13" name="Text 11"/>
          <p:cNvSpPr/>
          <p:nvPr/>
        </p:nvSpPr>
        <p:spPr>
          <a:xfrm>
            <a:off x="2423160" y="2834640"/>
            <a:ext cx="1965960" cy="164592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Computer vision scans notes</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across 8 RBI security features</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in under 2 seconds</a:t>
            </a:r>
            <a:endParaRPr lang="en-US" sz="1100" dirty="0"/>
          </a:p>
        </p:txBody>
      </p:sp>
      <p:sp>
        <p:nvSpPr>
          <p:cNvPr id="14" name="Shape 12"/>
          <p:cNvSpPr/>
          <p:nvPr/>
        </p:nvSpPr>
        <p:spPr>
          <a:xfrm>
            <a:off x="4572000" y="1325880"/>
            <a:ext cx="1965960" cy="3383280"/>
          </a:xfrm>
          <a:prstGeom prst="roundRect">
            <a:avLst>
              <a:gd name="adj" fmla="val 5581"/>
            </a:avLst>
          </a:prstGeom>
          <a:solidFill>
            <a:srgbClr val="12233D"/>
          </a:solidFill>
          <a:ln/>
          <a:effectLst>
            <a:outerShdw sx="100000" sy="100000" kx="0" ky="0" algn="bl" rotWithShape="0" blurRad="127000" dist="38100" dir="2700000">
              <a:srgbClr val="000000">
                <a:alpha val="18000"/>
              </a:srgbClr>
            </a:outerShdw>
          </a:effectLst>
        </p:spPr>
      </p:sp>
      <p:sp>
        <p:nvSpPr>
          <p:cNvPr id="15" name="Text 13"/>
          <p:cNvSpPr/>
          <p:nvPr/>
        </p:nvSpPr>
        <p:spPr>
          <a:xfrm>
            <a:off x="4572000" y="1463040"/>
            <a:ext cx="1965960" cy="640080"/>
          </a:xfrm>
          <a:prstGeom prst="rect">
            <a:avLst/>
          </a:prstGeom>
          <a:noFill/>
          <a:ln/>
        </p:spPr>
        <p:txBody>
          <a:bodyPr wrap="square" rtlCol="0" anchor="ctr"/>
          <a:lstStyle/>
          <a:p>
            <a:pPr algn="ct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16" name="Shape 14"/>
          <p:cNvSpPr/>
          <p:nvPr/>
        </p:nvSpPr>
        <p:spPr>
          <a:xfrm>
            <a:off x="5212080" y="2148840"/>
            <a:ext cx="685800" cy="36576"/>
          </a:xfrm>
          <a:prstGeom prst="rect">
            <a:avLst/>
          </a:prstGeom>
          <a:solidFill>
            <a:srgbClr val="3B82F6"/>
          </a:solidFill>
          <a:ln w="12700">
            <a:solidFill>
              <a:srgbClr val="3B82F6"/>
            </a:solidFill>
            <a:prstDash val="solid"/>
          </a:ln>
        </p:spPr>
      </p:sp>
      <p:sp>
        <p:nvSpPr>
          <p:cNvPr id="17" name="Text 15"/>
          <p:cNvSpPr/>
          <p:nvPr/>
        </p:nvSpPr>
        <p:spPr>
          <a:xfrm>
            <a:off x="4572000" y="2286000"/>
            <a:ext cx="1965960" cy="5486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Fraud Network Graph AI</a:t>
            </a:r>
            <a:endParaRPr lang="en-US" sz="1200" dirty="0"/>
          </a:p>
        </p:txBody>
      </p:sp>
      <p:sp>
        <p:nvSpPr>
          <p:cNvPr id="18" name="Text 16"/>
          <p:cNvSpPr/>
          <p:nvPr/>
        </p:nvSpPr>
        <p:spPr>
          <a:xfrm>
            <a:off x="4572000" y="2834640"/>
            <a:ext cx="1965960" cy="164592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Graph neural network maps</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crime rings, mule accounts,</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cross-border connections</a:t>
            </a:r>
            <a:endParaRPr lang="en-US" sz="1100" dirty="0"/>
          </a:p>
        </p:txBody>
      </p:sp>
      <p:sp>
        <p:nvSpPr>
          <p:cNvPr id="19" name="Shape 17"/>
          <p:cNvSpPr/>
          <p:nvPr/>
        </p:nvSpPr>
        <p:spPr>
          <a:xfrm>
            <a:off x="6720840" y="1325880"/>
            <a:ext cx="1965960" cy="3383280"/>
          </a:xfrm>
          <a:prstGeom prst="roundRect">
            <a:avLst>
              <a:gd name="adj" fmla="val 5581"/>
            </a:avLst>
          </a:prstGeom>
          <a:solidFill>
            <a:srgbClr val="12233D"/>
          </a:solidFill>
          <a:ln/>
          <a:effectLst>
            <a:outerShdw sx="100000" sy="100000" kx="0" ky="0" algn="bl" rotWithShape="0" blurRad="127000" dist="38100" dir="2700000">
              <a:srgbClr val="000000">
                <a:alpha val="18000"/>
              </a:srgbClr>
            </a:outerShdw>
          </a:effectLst>
        </p:spPr>
      </p:sp>
      <p:sp>
        <p:nvSpPr>
          <p:cNvPr id="20" name="Text 18"/>
          <p:cNvSpPr/>
          <p:nvPr/>
        </p:nvSpPr>
        <p:spPr>
          <a:xfrm>
            <a:off x="6720840" y="1463040"/>
            <a:ext cx="1965960" cy="640080"/>
          </a:xfrm>
          <a:prstGeom prst="rect">
            <a:avLst/>
          </a:prstGeom>
          <a:noFill/>
          <a:ln/>
        </p:spPr>
        <p:txBody>
          <a:bodyPr wrap="square" rtlCol="0" anchor="ctr"/>
          <a:lstStyle/>
          <a:p>
            <a:pPr algn="ctr" indent="0" marL="0">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21" name="Shape 19"/>
          <p:cNvSpPr/>
          <p:nvPr/>
        </p:nvSpPr>
        <p:spPr>
          <a:xfrm>
            <a:off x="7360920" y="2148840"/>
            <a:ext cx="685800" cy="36576"/>
          </a:xfrm>
          <a:prstGeom prst="rect">
            <a:avLst/>
          </a:prstGeom>
          <a:solidFill>
            <a:srgbClr val="2ECC71"/>
          </a:solidFill>
          <a:ln w="12700">
            <a:solidFill>
              <a:srgbClr val="2ECC71"/>
            </a:solidFill>
            <a:prstDash val="solid"/>
          </a:ln>
        </p:spPr>
      </p:sp>
      <p:sp>
        <p:nvSpPr>
          <p:cNvPr id="22" name="Text 20"/>
          <p:cNvSpPr/>
          <p:nvPr/>
        </p:nvSpPr>
        <p:spPr>
          <a:xfrm>
            <a:off x="6720840" y="2286000"/>
            <a:ext cx="1965960" cy="5486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Citizen Fraud Shield</a:t>
            </a:r>
            <a:endParaRPr lang="en-US" sz="1200" dirty="0"/>
          </a:p>
        </p:txBody>
      </p:sp>
      <p:sp>
        <p:nvSpPr>
          <p:cNvPr id="23" name="Text 21"/>
          <p:cNvSpPr/>
          <p:nvPr/>
        </p:nvSpPr>
        <p:spPr>
          <a:xfrm>
            <a:off x="6720840" y="2834640"/>
            <a:ext cx="1965960" cy="164592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Multilingual AI chatbot in</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12 Indian languages available</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24/7 via WhatsApp &amp; IVR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System Architecture</a:t>
            </a:r>
            <a:endParaRPr lang="en-US" sz="3400" dirty="0"/>
          </a:p>
        </p:txBody>
      </p:sp>
      <p:sp>
        <p:nvSpPr>
          <p:cNvPr id="3" name="Text 1"/>
          <p:cNvSpPr/>
          <p:nvPr/>
        </p:nvSpPr>
        <p:spPr>
          <a:xfrm>
            <a:off x="365760" y="822960"/>
            <a:ext cx="1371600" cy="320040"/>
          </a:xfrm>
          <a:prstGeom prst="rect">
            <a:avLst/>
          </a:prstGeom>
          <a:noFill/>
          <a:ln/>
        </p:spPr>
        <p:txBody>
          <a:bodyPr wrap="square" rtlCol="0" anchor="ctr"/>
          <a:lstStyle/>
          <a:p>
            <a:pPr indent="0" marL="0">
              <a:buNone/>
            </a:pPr>
            <a:r>
              <a:rPr lang="en-US" sz="800" b="1" dirty="0">
                <a:solidFill>
                  <a:srgbClr val="94A3B8"/>
                </a:solidFill>
                <a:latin typeface="Calibri" pitchFamily="34" charset="0"/>
                <a:ea typeface="Calibri" pitchFamily="34" charset="-122"/>
                <a:cs typeface="Calibri" pitchFamily="34" charset="-120"/>
              </a:rPr>
              <a:t>DATA SOURCES</a:t>
            </a:r>
            <a:endParaRPr lang="en-US" sz="800" dirty="0"/>
          </a:p>
        </p:txBody>
      </p:sp>
      <p:sp>
        <p:nvSpPr>
          <p:cNvPr id="4" name="Shape 2"/>
          <p:cNvSpPr/>
          <p:nvPr/>
        </p:nvSpPr>
        <p:spPr>
          <a:xfrm>
            <a:off x="1783080" y="822960"/>
            <a:ext cx="1316736" cy="502920"/>
          </a:xfrm>
          <a:prstGeom prst="roundRect">
            <a:avLst>
              <a:gd name="adj" fmla="val 14545"/>
            </a:avLst>
          </a:prstGeom>
          <a:solidFill>
            <a:srgbClr val="12233D"/>
          </a:solidFill>
          <a:ln/>
        </p:spPr>
      </p:sp>
      <p:sp>
        <p:nvSpPr>
          <p:cNvPr id="5" name="Text 3"/>
          <p:cNvSpPr/>
          <p:nvPr/>
        </p:nvSpPr>
        <p:spPr>
          <a:xfrm>
            <a:off x="1783080" y="822960"/>
            <a:ext cx="1316736"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Telecom CDRs</a:t>
            </a:r>
            <a:endParaRPr lang="en-US" sz="1000" dirty="0"/>
          </a:p>
        </p:txBody>
      </p:sp>
      <p:sp>
        <p:nvSpPr>
          <p:cNvPr id="6" name="Shape 4"/>
          <p:cNvSpPr/>
          <p:nvPr/>
        </p:nvSpPr>
        <p:spPr>
          <a:xfrm>
            <a:off x="3172968" y="822960"/>
            <a:ext cx="1316736" cy="502920"/>
          </a:xfrm>
          <a:prstGeom prst="roundRect">
            <a:avLst>
              <a:gd name="adj" fmla="val 14545"/>
            </a:avLst>
          </a:prstGeom>
          <a:solidFill>
            <a:srgbClr val="12233D"/>
          </a:solidFill>
          <a:ln/>
        </p:spPr>
      </p:sp>
      <p:sp>
        <p:nvSpPr>
          <p:cNvPr id="7" name="Text 5"/>
          <p:cNvSpPr/>
          <p:nvPr/>
        </p:nvSpPr>
        <p:spPr>
          <a:xfrm>
            <a:off x="3172968" y="822960"/>
            <a:ext cx="1316736"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UPI/Bank data</a:t>
            </a:r>
            <a:endParaRPr lang="en-US" sz="1000" dirty="0"/>
          </a:p>
        </p:txBody>
      </p:sp>
      <p:sp>
        <p:nvSpPr>
          <p:cNvPr id="8" name="Shape 6"/>
          <p:cNvSpPr/>
          <p:nvPr/>
        </p:nvSpPr>
        <p:spPr>
          <a:xfrm>
            <a:off x="4562856" y="822960"/>
            <a:ext cx="1316736" cy="502920"/>
          </a:xfrm>
          <a:prstGeom prst="roundRect">
            <a:avLst>
              <a:gd name="adj" fmla="val 14545"/>
            </a:avLst>
          </a:prstGeom>
          <a:solidFill>
            <a:srgbClr val="12233D"/>
          </a:solidFill>
          <a:ln/>
        </p:spPr>
      </p:sp>
      <p:sp>
        <p:nvSpPr>
          <p:cNvPr id="9" name="Text 7"/>
          <p:cNvSpPr/>
          <p:nvPr/>
        </p:nvSpPr>
        <p:spPr>
          <a:xfrm>
            <a:off x="4562856" y="822960"/>
            <a:ext cx="1316736"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CCTV feeds</a:t>
            </a:r>
            <a:endParaRPr lang="en-US" sz="1000" dirty="0"/>
          </a:p>
        </p:txBody>
      </p:sp>
      <p:sp>
        <p:nvSpPr>
          <p:cNvPr id="10" name="Shape 8"/>
          <p:cNvSpPr/>
          <p:nvPr/>
        </p:nvSpPr>
        <p:spPr>
          <a:xfrm>
            <a:off x="5952744" y="822960"/>
            <a:ext cx="1316736" cy="502920"/>
          </a:xfrm>
          <a:prstGeom prst="roundRect">
            <a:avLst>
              <a:gd name="adj" fmla="val 14545"/>
            </a:avLst>
          </a:prstGeom>
          <a:solidFill>
            <a:srgbClr val="12233D"/>
          </a:solidFill>
          <a:ln/>
        </p:spPr>
      </p:sp>
      <p:sp>
        <p:nvSpPr>
          <p:cNvPr id="11" name="Text 9"/>
          <p:cNvSpPr/>
          <p:nvPr/>
        </p:nvSpPr>
        <p:spPr>
          <a:xfrm>
            <a:off x="5952744" y="822960"/>
            <a:ext cx="1316736"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Citizen reports</a:t>
            </a:r>
            <a:endParaRPr lang="en-US" sz="1000" dirty="0"/>
          </a:p>
        </p:txBody>
      </p:sp>
      <p:sp>
        <p:nvSpPr>
          <p:cNvPr id="12" name="Shape 10"/>
          <p:cNvSpPr/>
          <p:nvPr/>
        </p:nvSpPr>
        <p:spPr>
          <a:xfrm>
            <a:off x="7342632" y="822960"/>
            <a:ext cx="1316736" cy="502920"/>
          </a:xfrm>
          <a:prstGeom prst="roundRect">
            <a:avLst>
              <a:gd name="adj" fmla="val 14545"/>
            </a:avLst>
          </a:prstGeom>
          <a:solidFill>
            <a:srgbClr val="12233D"/>
          </a:solidFill>
          <a:ln/>
        </p:spPr>
      </p:sp>
      <p:sp>
        <p:nvSpPr>
          <p:cNvPr id="13" name="Text 11"/>
          <p:cNvSpPr/>
          <p:nvPr/>
        </p:nvSpPr>
        <p:spPr>
          <a:xfrm>
            <a:off x="7342632" y="822960"/>
            <a:ext cx="1316736"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ATM/POS</a:t>
            </a:r>
            <a:endParaRPr lang="en-US" sz="1000" dirty="0"/>
          </a:p>
        </p:txBody>
      </p:sp>
      <p:sp>
        <p:nvSpPr>
          <p:cNvPr id="14" name="Shape 12"/>
          <p:cNvSpPr/>
          <p:nvPr/>
        </p:nvSpPr>
        <p:spPr>
          <a:xfrm>
            <a:off x="4572000" y="1344168"/>
            <a:ext cx="0" cy="210312"/>
          </a:xfrm>
          <a:prstGeom prst="line">
            <a:avLst/>
          </a:prstGeom>
          <a:noFill/>
          <a:ln w="19050">
            <a:solidFill>
              <a:srgbClr val="94A3B8"/>
            </a:solidFill>
            <a:prstDash val="solid"/>
          </a:ln>
        </p:spPr>
      </p:sp>
      <p:sp>
        <p:nvSpPr>
          <p:cNvPr id="15" name="Text 13"/>
          <p:cNvSpPr/>
          <p:nvPr/>
        </p:nvSpPr>
        <p:spPr>
          <a:xfrm>
            <a:off x="365760" y="1691640"/>
            <a:ext cx="1371600" cy="320040"/>
          </a:xfrm>
          <a:prstGeom prst="rect">
            <a:avLst/>
          </a:prstGeom>
          <a:noFill/>
          <a:ln/>
        </p:spPr>
        <p:txBody>
          <a:bodyPr wrap="square" rtlCol="0" anchor="ctr"/>
          <a:lstStyle/>
          <a:p>
            <a:pPr indent="0" marL="0">
              <a:buNone/>
            </a:pPr>
            <a:r>
              <a:rPr lang="en-US" sz="800" b="1" dirty="0">
                <a:solidFill>
                  <a:srgbClr val="94A3B8"/>
                </a:solidFill>
                <a:latin typeface="Calibri" pitchFamily="34" charset="0"/>
                <a:ea typeface="Calibri" pitchFamily="34" charset="-122"/>
                <a:cs typeface="Calibri" pitchFamily="34" charset="-120"/>
              </a:rPr>
              <a:t>INGESTION BUS</a:t>
            </a:r>
            <a:endParaRPr lang="en-US" sz="800" dirty="0"/>
          </a:p>
        </p:txBody>
      </p:sp>
      <p:sp>
        <p:nvSpPr>
          <p:cNvPr id="16" name="Shape 14"/>
          <p:cNvSpPr/>
          <p:nvPr/>
        </p:nvSpPr>
        <p:spPr>
          <a:xfrm>
            <a:off x="1783080" y="1691640"/>
            <a:ext cx="6949440" cy="502920"/>
          </a:xfrm>
          <a:prstGeom prst="roundRect">
            <a:avLst>
              <a:gd name="adj" fmla="val 14545"/>
            </a:avLst>
          </a:prstGeom>
          <a:solidFill>
            <a:srgbClr val="152744"/>
          </a:solidFill>
          <a:ln/>
        </p:spPr>
      </p:sp>
      <p:sp>
        <p:nvSpPr>
          <p:cNvPr id="17" name="Text 15"/>
          <p:cNvSpPr/>
          <p:nvPr/>
        </p:nvSpPr>
        <p:spPr>
          <a:xfrm>
            <a:off x="1783080" y="1691640"/>
            <a:ext cx="6949440" cy="502920"/>
          </a:xfrm>
          <a:prstGeom prst="rect">
            <a:avLst/>
          </a:prstGeom>
          <a:noFill/>
          <a:ln/>
        </p:spPr>
        <p:txBody>
          <a:bodyPr wrap="square" rtlCol="0" anchor="ctr"/>
          <a:lstStyle/>
          <a:p>
            <a:pPr algn="ctr" indent="0" marL="0">
              <a:buNone/>
            </a:pPr>
            <a:r>
              <a:rPr lang="en-US" sz="1200" dirty="0">
                <a:solidFill>
                  <a:srgbClr val="E8EDF4"/>
                </a:solidFill>
                <a:latin typeface="Calibri" pitchFamily="34" charset="0"/>
                <a:ea typeface="Calibri" pitchFamily="34" charset="-122"/>
                <a:cs typeface="Calibri" pitchFamily="34" charset="-120"/>
              </a:rPr>
              <a:t>Apache Kafka  ·  Stream normalisation  ·  Deduplication</a:t>
            </a:r>
            <a:endParaRPr lang="en-US" sz="1200" dirty="0"/>
          </a:p>
        </p:txBody>
      </p:sp>
      <p:sp>
        <p:nvSpPr>
          <p:cNvPr id="18" name="Shape 16"/>
          <p:cNvSpPr/>
          <p:nvPr/>
        </p:nvSpPr>
        <p:spPr>
          <a:xfrm>
            <a:off x="4572000" y="2212848"/>
            <a:ext cx="0" cy="210312"/>
          </a:xfrm>
          <a:prstGeom prst="line">
            <a:avLst/>
          </a:prstGeom>
          <a:noFill/>
          <a:ln w="19050">
            <a:solidFill>
              <a:srgbClr val="94A3B8"/>
            </a:solidFill>
            <a:prstDash val="solid"/>
          </a:ln>
        </p:spPr>
      </p:sp>
      <p:sp>
        <p:nvSpPr>
          <p:cNvPr id="19" name="Text 17"/>
          <p:cNvSpPr/>
          <p:nvPr/>
        </p:nvSpPr>
        <p:spPr>
          <a:xfrm>
            <a:off x="365760" y="2468880"/>
            <a:ext cx="1371600" cy="320040"/>
          </a:xfrm>
          <a:prstGeom prst="rect">
            <a:avLst/>
          </a:prstGeom>
          <a:noFill/>
          <a:ln/>
        </p:spPr>
        <p:txBody>
          <a:bodyPr wrap="square" rtlCol="0" anchor="ctr"/>
          <a:lstStyle/>
          <a:p>
            <a:pPr indent="0" marL="0">
              <a:buNone/>
            </a:pPr>
            <a:r>
              <a:rPr lang="en-US" sz="800" b="1" dirty="0">
                <a:solidFill>
                  <a:srgbClr val="94A3B8"/>
                </a:solidFill>
                <a:latin typeface="Calibri" pitchFamily="34" charset="0"/>
                <a:ea typeface="Calibri" pitchFamily="34" charset="-122"/>
                <a:cs typeface="Calibri" pitchFamily="34" charset="-120"/>
              </a:rPr>
              <a:t>AI AGENT LAYER</a:t>
            </a:r>
            <a:endParaRPr lang="en-US" sz="800" dirty="0"/>
          </a:p>
        </p:txBody>
      </p:sp>
      <p:sp>
        <p:nvSpPr>
          <p:cNvPr id="20" name="Shape 18"/>
          <p:cNvSpPr/>
          <p:nvPr/>
        </p:nvSpPr>
        <p:spPr>
          <a:xfrm>
            <a:off x="1783080" y="2468880"/>
            <a:ext cx="1664208" cy="502920"/>
          </a:xfrm>
          <a:prstGeom prst="roundRect">
            <a:avLst>
              <a:gd name="adj" fmla="val 14545"/>
            </a:avLst>
          </a:prstGeom>
          <a:solidFill>
            <a:srgbClr val="12233D"/>
          </a:solidFill>
          <a:ln/>
        </p:spPr>
      </p:sp>
      <p:sp>
        <p:nvSpPr>
          <p:cNvPr id="21" name="Text 19"/>
          <p:cNvSpPr/>
          <p:nvPr/>
        </p:nvSpPr>
        <p:spPr>
          <a:xfrm>
            <a:off x="1783080" y="2468880"/>
            <a:ext cx="1664208"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Scam NLP Agent</a:t>
            </a:r>
            <a:endParaRPr lang="en-US" sz="1000" dirty="0"/>
          </a:p>
        </p:txBody>
      </p:sp>
      <p:sp>
        <p:nvSpPr>
          <p:cNvPr id="22" name="Shape 20"/>
          <p:cNvSpPr/>
          <p:nvPr/>
        </p:nvSpPr>
        <p:spPr>
          <a:xfrm>
            <a:off x="3520440" y="2468880"/>
            <a:ext cx="1664208" cy="502920"/>
          </a:xfrm>
          <a:prstGeom prst="roundRect">
            <a:avLst>
              <a:gd name="adj" fmla="val 14545"/>
            </a:avLst>
          </a:prstGeom>
          <a:solidFill>
            <a:srgbClr val="12233D"/>
          </a:solidFill>
          <a:ln/>
        </p:spPr>
      </p:sp>
      <p:sp>
        <p:nvSpPr>
          <p:cNvPr id="23" name="Text 21"/>
          <p:cNvSpPr/>
          <p:nvPr/>
        </p:nvSpPr>
        <p:spPr>
          <a:xfrm>
            <a:off x="3520440" y="2468880"/>
            <a:ext cx="1664208"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Graph Fraud AI</a:t>
            </a:r>
            <a:endParaRPr lang="en-US" sz="1000" dirty="0"/>
          </a:p>
        </p:txBody>
      </p:sp>
      <p:sp>
        <p:nvSpPr>
          <p:cNvPr id="24" name="Shape 22"/>
          <p:cNvSpPr/>
          <p:nvPr/>
        </p:nvSpPr>
        <p:spPr>
          <a:xfrm>
            <a:off x="5257800" y="2468880"/>
            <a:ext cx="1664208" cy="502920"/>
          </a:xfrm>
          <a:prstGeom prst="roundRect">
            <a:avLst>
              <a:gd name="adj" fmla="val 14545"/>
            </a:avLst>
          </a:prstGeom>
          <a:solidFill>
            <a:srgbClr val="12233D"/>
          </a:solidFill>
          <a:ln/>
        </p:spPr>
      </p:sp>
      <p:sp>
        <p:nvSpPr>
          <p:cNvPr id="25" name="Text 23"/>
          <p:cNvSpPr/>
          <p:nvPr/>
        </p:nvSpPr>
        <p:spPr>
          <a:xfrm>
            <a:off x="5257800" y="2468880"/>
            <a:ext cx="1664208"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Currency CV AI</a:t>
            </a:r>
            <a:endParaRPr lang="en-US" sz="1000" dirty="0"/>
          </a:p>
        </p:txBody>
      </p:sp>
      <p:sp>
        <p:nvSpPr>
          <p:cNvPr id="26" name="Shape 24"/>
          <p:cNvSpPr/>
          <p:nvPr/>
        </p:nvSpPr>
        <p:spPr>
          <a:xfrm>
            <a:off x="6995160" y="2468880"/>
            <a:ext cx="1664208" cy="502920"/>
          </a:xfrm>
          <a:prstGeom prst="roundRect">
            <a:avLst>
              <a:gd name="adj" fmla="val 14545"/>
            </a:avLst>
          </a:prstGeom>
          <a:solidFill>
            <a:srgbClr val="12233D"/>
          </a:solidFill>
          <a:ln/>
        </p:spPr>
      </p:sp>
      <p:sp>
        <p:nvSpPr>
          <p:cNvPr id="27" name="Text 25"/>
          <p:cNvSpPr/>
          <p:nvPr/>
        </p:nvSpPr>
        <p:spPr>
          <a:xfrm>
            <a:off x="6995160" y="2468880"/>
            <a:ext cx="1664208"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Shield Chatbot</a:t>
            </a:r>
            <a:endParaRPr lang="en-US" sz="1000" dirty="0"/>
          </a:p>
        </p:txBody>
      </p:sp>
      <p:sp>
        <p:nvSpPr>
          <p:cNvPr id="28" name="Shape 26"/>
          <p:cNvSpPr/>
          <p:nvPr/>
        </p:nvSpPr>
        <p:spPr>
          <a:xfrm>
            <a:off x="4572000" y="2990088"/>
            <a:ext cx="0" cy="210312"/>
          </a:xfrm>
          <a:prstGeom prst="line">
            <a:avLst/>
          </a:prstGeom>
          <a:noFill/>
          <a:ln w="19050">
            <a:solidFill>
              <a:srgbClr val="94A3B8"/>
            </a:solidFill>
            <a:prstDash val="solid"/>
          </a:ln>
        </p:spPr>
      </p:sp>
      <p:sp>
        <p:nvSpPr>
          <p:cNvPr id="29" name="Text 27"/>
          <p:cNvSpPr/>
          <p:nvPr/>
        </p:nvSpPr>
        <p:spPr>
          <a:xfrm>
            <a:off x="365760" y="3337560"/>
            <a:ext cx="1371600" cy="320040"/>
          </a:xfrm>
          <a:prstGeom prst="rect">
            <a:avLst/>
          </a:prstGeom>
          <a:noFill/>
          <a:ln/>
        </p:spPr>
        <p:txBody>
          <a:bodyPr wrap="square" rtlCol="0" anchor="ctr"/>
          <a:lstStyle/>
          <a:p>
            <a:pPr indent="0" marL="0">
              <a:buNone/>
            </a:pPr>
            <a:r>
              <a:rPr lang="en-US" sz="800" b="1" dirty="0">
                <a:solidFill>
                  <a:srgbClr val="94A3B8"/>
                </a:solidFill>
                <a:latin typeface="Calibri" pitchFamily="34" charset="0"/>
                <a:ea typeface="Calibri" pitchFamily="34" charset="-122"/>
                <a:cs typeface="Calibri" pitchFamily="34" charset="-120"/>
              </a:rPr>
              <a:t>ORCHESTRATOR</a:t>
            </a:r>
            <a:endParaRPr lang="en-US" sz="800" dirty="0"/>
          </a:p>
        </p:txBody>
      </p:sp>
      <p:sp>
        <p:nvSpPr>
          <p:cNvPr id="30" name="Shape 28"/>
          <p:cNvSpPr/>
          <p:nvPr/>
        </p:nvSpPr>
        <p:spPr>
          <a:xfrm>
            <a:off x="1783080" y="3337560"/>
            <a:ext cx="6949440" cy="502920"/>
          </a:xfrm>
          <a:prstGeom prst="roundRect">
            <a:avLst>
              <a:gd name="adj" fmla="val 14545"/>
            </a:avLst>
          </a:prstGeom>
          <a:solidFill>
            <a:srgbClr val="152744"/>
          </a:solidFill>
          <a:ln/>
        </p:spPr>
      </p:sp>
      <p:sp>
        <p:nvSpPr>
          <p:cNvPr id="31" name="Text 29"/>
          <p:cNvSpPr/>
          <p:nvPr/>
        </p:nvSpPr>
        <p:spPr>
          <a:xfrm>
            <a:off x="1783080" y="3337560"/>
            <a:ext cx="6949440" cy="502920"/>
          </a:xfrm>
          <a:prstGeom prst="rect">
            <a:avLst/>
          </a:prstGeom>
          <a:noFill/>
          <a:ln/>
        </p:spPr>
        <p:txBody>
          <a:bodyPr wrap="square" rtlCol="0" anchor="ctr"/>
          <a:lstStyle/>
          <a:p>
            <a:pPr algn="ctr" indent="0" marL="0">
              <a:buNone/>
            </a:pPr>
            <a:r>
              <a:rPr lang="en-US" sz="1200" dirty="0">
                <a:solidFill>
                  <a:srgbClr val="E8EDF4"/>
                </a:solidFill>
                <a:latin typeface="Calibri" pitchFamily="34" charset="0"/>
                <a:ea typeface="Calibri" pitchFamily="34" charset="-122"/>
                <a:cs typeface="Calibri" pitchFamily="34" charset="-120"/>
              </a:rPr>
              <a:t>LangGraph Multi-Agent Orchestrator  ·  Risk scoring  ·  Alert routing</a:t>
            </a:r>
            <a:endParaRPr lang="en-US" sz="1200" dirty="0"/>
          </a:p>
        </p:txBody>
      </p:sp>
      <p:sp>
        <p:nvSpPr>
          <p:cNvPr id="32" name="Shape 30"/>
          <p:cNvSpPr/>
          <p:nvPr/>
        </p:nvSpPr>
        <p:spPr>
          <a:xfrm>
            <a:off x="4572000" y="3858768"/>
            <a:ext cx="0" cy="210312"/>
          </a:xfrm>
          <a:prstGeom prst="line">
            <a:avLst/>
          </a:prstGeom>
          <a:noFill/>
          <a:ln w="19050">
            <a:solidFill>
              <a:srgbClr val="94A3B8"/>
            </a:solidFill>
            <a:prstDash val="solid"/>
          </a:ln>
        </p:spPr>
      </p:sp>
      <p:sp>
        <p:nvSpPr>
          <p:cNvPr id="33" name="Text 31"/>
          <p:cNvSpPr/>
          <p:nvPr/>
        </p:nvSpPr>
        <p:spPr>
          <a:xfrm>
            <a:off x="365760" y="4114800"/>
            <a:ext cx="1371600" cy="320040"/>
          </a:xfrm>
          <a:prstGeom prst="rect">
            <a:avLst/>
          </a:prstGeom>
          <a:noFill/>
          <a:ln/>
        </p:spPr>
        <p:txBody>
          <a:bodyPr wrap="square" rtlCol="0" anchor="ctr"/>
          <a:lstStyle/>
          <a:p>
            <a:pPr indent="0" marL="0">
              <a:buNone/>
            </a:pPr>
            <a:r>
              <a:rPr lang="en-US" sz="800" b="1" dirty="0">
                <a:solidFill>
                  <a:srgbClr val="94A3B8"/>
                </a:solidFill>
                <a:latin typeface="Calibri" pitchFamily="34" charset="0"/>
                <a:ea typeface="Calibri" pitchFamily="34" charset="-122"/>
                <a:cs typeface="Calibri" pitchFamily="34" charset="-120"/>
              </a:rPr>
              <a:t>OUTPUTS</a:t>
            </a:r>
            <a:endParaRPr lang="en-US" sz="800" dirty="0"/>
          </a:p>
        </p:txBody>
      </p:sp>
      <p:sp>
        <p:nvSpPr>
          <p:cNvPr id="34" name="Shape 32"/>
          <p:cNvSpPr/>
          <p:nvPr/>
        </p:nvSpPr>
        <p:spPr>
          <a:xfrm>
            <a:off x="1783080" y="4114800"/>
            <a:ext cx="1664208" cy="502920"/>
          </a:xfrm>
          <a:prstGeom prst="roundRect">
            <a:avLst>
              <a:gd name="adj" fmla="val 14545"/>
            </a:avLst>
          </a:prstGeom>
          <a:solidFill>
            <a:srgbClr val="E63946"/>
          </a:solidFill>
          <a:ln/>
        </p:spPr>
      </p:sp>
      <p:sp>
        <p:nvSpPr>
          <p:cNvPr id="35" name="Text 33"/>
          <p:cNvSpPr/>
          <p:nvPr/>
        </p:nvSpPr>
        <p:spPr>
          <a:xfrm>
            <a:off x="1783080" y="4114800"/>
            <a:ext cx="1664208"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Law Enforcement</a:t>
            </a:r>
            <a:endParaRPr lang="en-US" sz="1000" dirty="0"/>
          </a:p>
        </p:txBody>
      </p:sp>
      <p:sp>
        <p:nvSpPr>
          <p:cNvPr id="36" name="Shape 34"/>
          <p:cNvSpPr/>
          <p:nvPr/>
        </p:nvSpPr>
        <p:spPr>
          <a:xfrm>
            <a:off x="3520440" y="4114800"/>
            <a:ext cx="1664208" cy="502920"/>
          </a:xfrm>
          <a:prstGeom prst="roundRect">
            <a:avLst>
              <a:gd name="adj" fmla="val 14545"/>
            </a:avLst>
          </a:prstGeom>
          <a:solidFill>
            <a:srgbClr val="1565C0"/>
          </a:solidFill>
          <a:ln/>
        </p:spPr>
      </p:sp>
      <p:sp>
        <p:nvSpPr>
          <p:cNvPr id="37" name="Text 35"/>
          <p:cNvSpPr/>
          <p:nvPr/>
        </p:nvSpPr>
        <p:spPr>
          <a:xfrm>
            <a:off x="3520440" y="4114800"/>
            <a:ext cx="1664208"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Banks / RBI</a:t>
            </a:r>
            <a:endParaRPr lang="en-US" sz="1000" dirty="0"/>
          </a:p>
        </p:txBody>
      </p:sp>
      <p:sp>
        <p:nvSpPr>
          <p:cNvPr id="38" name="Shape 36"/>
          <p:cNvSpPr/>
          <p:nvPr/>
        </p:nvSpPr>
        <p:spPr>
          <a:xfrm>
            <a:off x="5257800" y="4114800"/>
            <a:ext cx="1664208" cy="502920"/>
          </a:xfrm>
          <a:prstGeom prst="roundRect">
            <a:avLst>
              <a:gd name="adj" fmla="val 14545"/>
            </a:avLst>
          </a:prstGeom>
          <a:solidFill>
            <a:srgbClr val="F39C12"/>
          </a:solidFill>
          <a:ln/>
        </p:spPr>
      </p:sp>
      <p:sp>
        <p:nvSpPr>
          <p:cNvPr id="39" name="Text 37"/>
          <p:cNvSpPr/>
          <p:nvPr/>
        </p:nvSpPr>
        <p:spPr>
          <a:xfrm>
            <a:off x="5257800" y="4114800"/>
            <a:ext cx="1664208"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Citizens</a:t>
            </a:r>
            <a:endParaRPr lang="en-US" sz="1000" dirty="0"/>
          </a:p>
        </p:txBody>
      </p:sp>
      <p:sp>
        <p:nvSpPr>
          <p:cNvPr id="40" name="Shape 38"/>
          <p:cNvSpPr/>
          <p:nvPr/>
        </p:nvSpPr>
        <p:spPr>
          <a:xfrm>
            <a:off x="6995160" y="4114800"/>
            <a:ext cx="1664208" cy="502920"/>
          </a:xfrm>
          <a:prstGeom prst="roundRect">
            <a:avLst>
              <a:gd name="adj" fmla="val 14545"/>
            </a:avLst>
          </a:prstGeom>
          <a:solidFill>
            <a:srgbClr val="6B21A8"/>
          </a:solidFill>
          <a:ln/>
        </p:spPr>
      </p:sp>
      <p:sp>
        <p:nvSpPr>
          <p:cNvPr id="41" name="Text 39"/>
          <p:cNvSpPr/>
          <p:nvPr/>
        </p:nvSpPr>
        <p:spPr>
          <a:xfrm>
            <a:off x="6995160" y="4114800"/>
            <a:ext cx="1664208"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MHA / NCRB</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oundRect">
            <a:avLst/>
          </a:prstGeom>
          <a:solidFill>
            <a:srgbClr val="E63946"/>
          </a:solidFill>
          <a:ln w="12700">
            <a:solidFill>
              <a:srgbClr val="E63946"/>
            </a:solidFill>
            <a:prstDash val="solid"/>
          </a:ln>
        </p:spPr>
      </p:sp>
      <p:sp>
        <p:nvSpPr>
          <p:cNvPr id="3" name="Text 1"/>
          <p:cNvSpPr/>
          <p:nvPr/>
        </p:nvSpPr>
        <p:spPr>
          <a:xfrm>
            <a:off x="548640" y="182880"/>
            <a:ext cx="3657600" cy="320040"/>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MODULE 1</a:t>
            </a:r>
            <a:endParaRPr lang="en-US" sz="1100" dirty="0"/>
          </a:p>
        </p:txBody>
      </p:sp>
      <p:sp>
        <p:nvSpPr>
          <p:cNvPr id="4" name="Text 2"/>
          <p:cNvSpPr/>
          <p:nvPr/>
        </p:nvSpPr>
        <p:spPr>
          <a:xfrm>
            <a:off x="548640" y="457200"/>
            <a:ext cx="54864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Scam Detection Agent</a:t>
            </a:r>
            <a:endParaRPr lang="en-US" sz="3200" dirty="0"/>
          </a:p>
        </p:txBody>
      </p:sp>
      <p:sp>
        <p:nvSpPr>
          <p:cNvPr id="5" name="Text 3"/>
          <p:cNvSpPr/>
          <p:nvPr/>
        </p:nvSpPr>
        <p:spPr>
          <a:xfrm>
            <a:off x="548640" y="1051560"/>
            <a:ext cx="548640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Real-time digital arrest scam classifier</a:t>
            </a:r>
            <a:endParaRPr lang="en-US" sz="1400" dirty="0"/>
          </a:p>
        </p:txBody>
      </p:sp>
      <p:sp>
        <p:nvSpPr>
          <p:cNvPr id="6" name="Shape 4"/>
          <p:cNvSpPr/>
          <p:nvPr/>
        </p:nvSpPr>
        <p:spPr>
          <a:xfrm>
            <a:off x="548640" y="1645920"/>
            <a:ext cx="502920" cy="502920"/>
          </a:xfrm>
          <a:prstGeom prst="ellipse">
            <a:avLst/>
          </a:prstGeom>
          <a:solidFill>
            <a:srgbClr val="E63946"/>
          </a:solidFill>
          <a:ln w="12700">
            <a:solidFill>
              <a:srgbClr val="E63946"/>
            </a:solidFill>
            <a:prstDash val="solid"/>
          </a:ln>
        </p:spPr>
      </p:sp>
      <p:sp>
        <p:nvSpPr>
          <p:cNvPr id="7" name="Text 5"/>
          <p:cNvSpPr/>
          <p:nvPr/>
        </p:nvSpPr>
        <p:spPr>
          <a:xfrm>
            <a:off x="548640" y="1645920"/>
            <a:ext cx="5029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188720" y="1600200"/>
            <a:ext cx="18288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Ingest</a:t>
            </a:r>
            <a:endParaRPr lang="en-US" sz="1300" dirty="0"/>
          </a:p>
        </p:txBody>
      </p:sp>
      <p:sp>
        <p:nvSpPr>
          <p:cNvPr id="9" name="Text 7"/>
          <p:cNvSpPr/>
          <p:nvPr/>
        </p:nvSpPr>
        <p:spPr>
          <a:xfrm>
            <a:off x="1188720" y="1920240"/>
            <a:ext cx="5029200" cy="32004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Call transcript or message received via telecom CDR or citizen report</a:t>
            </a:r>
            <a:endParaRPr lang="en-US" sz="1100" dirty="0"/>
          </a:p>
        </p:txBody>
      </p:sp>
      <p:sp>
        <p:nvSpPr>
          <p:cNvPr id="10" name="Shape 8"/>
          <p:cNvSpPr/>
          <p:nvPr/>
        </p:nvSpPr>
        <p:spPr>
          <a:xfrm>
            <a:off x="548640" y="2395728"/>
            <a:ext cx="502920" cy="502920"/>
          </a:xfrm>
          <a:prstGeom prst="ellipse">
            <a:avLst/>
          </a:prstGeom>
          <a:solidFill>
            <a:srgbClr val="E63946"/>
          </a:solidFill>
          <a:ln w="12700">
            <a:solidFill>
              <a:srgbClr val="E63946"/>
            </a:solidFill>
            <a:prstDash val="solid"/>
          </a:ln>
        </p:spPr>
      </p:sp>
      <p:sp>
        <p:nvSpPr>
          <p:cNvPr id="11" name="Text 9"/>
          <p:cNvSpPr/>
          <p:nvPr/>
        </p:nvSpPr>
        <p:spPr>
          <a:xfrm>
            <a:off x="548640" y="2395728"/>
            <a:ext cx="5029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2" name="Text 10"/>
          <p:cNvSpPr/>
          <p:nvPr/>
        </p:nvSpPr>
        <p:spPr>
          <a:xfrm>
            <a:off x="1188720" y="2350008"/>
            <a:ext cx="18288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Classify</a:t>
            </a:r>
            <a:endParaRPr lang="en-US" sz="1300" dirty="0"/>
          </a:p>
        </p:txBody>
      </p:sp>
      <p:sp>
        <p:nvSpPr>
          <p:cNvPr id="13" name="Text 11"/>
          <p:cNvSpPr/>
          <p:nvPr/>
        </p:nvSpPr>
        <p:spPr>
          <a:xfrm>
            <a:off x="1188720" y="2670048"/>
            <a:ext cx="5029200" cy="32004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NLP model scores 18 known scam markers (authority, urgency, money, isolation)</a:t>
            </a:r>
            <a:endParaRPr lang="en-US" sz="1100" dirty="0"/>
          </a:p>
        </p:txBody>
      </p:sp>
      <p:sp>
        <p:nvSpPr>
          <p:cNvPr id="14" name="Shape 12"/>
          <p:cNvSpPr/>
          <p:nvPr/>
        </p:nvSpPr>
        <p:spPr>
          <a:xfrm>
            <a:off x="548640" y="3145536"/>
            <a:ext cx="502920" cy="502920"/>
          </a:xfrm>
          <a:prstGeom prst="ellipse">
            <a:avLst/>
          </a:prstGeom>
          <a:solidFill>
            <a:srgbClr val="E63946"/>
          </a:solidFill>
          <a:ln w="12700">
            <a:solidFill>
              <a:srgbClr val="E63946"/>
            </a:solidFill>
            <a:prstDash val="solid"/>
          </a:ln>
        </p:spPr>
      </p:sp>
      <p:sp>
        <p:nvSpPr>
          <p:cNvPr id="15" name="Text 13"/>
          <p:cNvSpPr/>
          <p:nvPr/>
        </p:nvSpPr>
        <p:spPr>
          <a:xfrm>
            <a:off x="548640" y="3145536"/>
            <a:ext cx="5029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6" name="Text 14"/>
          <p:cNvSpPr/>
          <p:nvPr/>
        </p:nvSpPr>
        <p:spPr>
          <a:xfrm>
            <a:off x="1188720" y="3099816"/>
            <a:ext cx="18288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Score</a:t>
            </a:r>
            <a:endParaRPr lang="en-US" sz="1300" dirty="0"/>
          </a:p>
        </p:txBody>
      </p:sp>
      <p:sp>
        <p:nvSpPr>
          <p:cNvPr id="17" name="Text 15"/>
          <p:cNvSpPr/>
          <p:nvPr/>
        </p:nvSpPr>
        <p:spPr>
          <a:xfrm>
            <a:off x="1188720" y="3419856"/>
            <a:ext cx="5029200" cy="32004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Risk score 0-100 calculated with HIGH / MEDIUM / LOW classification</a:t>
            </a:r>
            <a:endParaRPr lang="en-US" sz="1100" dirty="0"/>
          </a:p>
        </p:txBody>
      </p:sp>
      <p:sp>
        <p:nvSpPr>
          <p:cNvPr id="18" name="Shape 16"/>
          <p:cNvSpPr/>
          <p:nvPr/>
        </p:nvSpPr>
        <p:spPr>
          <a:xfrm>
            <a:off x="548640" y="3895344"/>
            <a:ext cx="502920" cy="502920"/>
          </a:xfrm>
          <a:prstGeom prst="ellipse">
            <a:avLst/>
          </a:prstGeom>
          <a:solidFill>
            <a:srgbClr val="E63946"/>
          </a:solidFill>
          <a:ln w="12700">
            <a:solidFill>
              <a:srgbClr val="E63946"/>
            </a:solidFill>
            <a:prstDash val="solid"/>
          </a:ln>
        </p:spPr>
      </p:sp>
      <p:sp>
        <p:nvSpPr>
          <p:cNvPr id="19" name="Text 17"/>
          <p:cNvSpPr/>
          <p:nvPr/>
        </p:nvSpPr>
        <p:spPr>
          <a:xfrm>
            <a:off x="548640" y="3895344"/>
            <a:ext cx="5029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0" name="Text 18"/>
          <p:cNvSpPr/>
          <p:nvPr/>
        </p:nvSpPr>
        <p:spPr>
          <a:xfrm>
            <a:off x="1188720" y="3849624"/>
            <a:ext cx="18288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Act</a:t>
            </a:r>
            <a:endParaRPr lang="en-US" sz="1300" dirty="0"/>
          </a:p>
        </p:txBody>
      </p:sp>
      <p:sp>
        <p:nvSpPr>
          <p:cNvPr id="21" name="Text 19"/>
          <p:cNvSpPr/>
          <p:nvPr/>
        </p:nvSpPr>
        <p:spPr>
          <a:xfrm>
            <a:off x="1188720" y="4169664"/>
            <a:ext cx="5029200" cy="32004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Auto-alert to telecom provider, MHA notification, victim advisory pushed</a:t>
            </a:r>
            <a:endParaRPr lang="en-US" sz="1100" dirty="0"/>
          </a:p>
        </p:txBody>
      </p:sp>
      <p:sp>
        <p:nvSpPr>
          <p:cNvPr id="22" name="Shape 20"/>
          <p:cNvSpPr/>
          <p:nvPr/>
        </p:nvSpPr>
        <p:spPr>
          <a:xfrm>
            <a:off x="6492240" y="1371600"/>
            <a:ext cx="2286000" cy="3383280"/>
          </a:xfrm>
          <a:prstGeom prst="roundRect">
            <a:avLst>
              <a:gd name="adj" fmla="val 4800"/>
            </a:avLst>
          </a:prstGeom>
          <a:solidFill>
            <a:srgbClr val="12233D"/>
          </a:solidFill>
          <a:ln/>
          <a:effectLst>
            <a:outerShdw sx="100000" sy="100000" kx="0" ky="0" algn="bl" rotWithShape="0" blurRad="127000" dist="38100" dir="2700000">
              <a:srgbClr val="000000">
                <a:alpha val="18000"/>
              </a:srgbClr>
            </a:outerShdw>
          </a:effectLst>
        </p:spPr>
      </p:sp>
      <p:sp>
        <p:nvSpPr>
          <p:cNvPr id="23" name="Text 21"/>
          <p:cNvSpPr/>
          <p:nvPr/>
        </p:nvSpPr>
        <p:spPr>
          <a:xfrm>
            <a:off x="6492240" y="1463040"/>
            <a:ext cx="2286000"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Live Results</a:t>
            </a:r>
            <a:endParaRPr lang="en-US" sz="1300" dirty="0"/>
          </a:p>
        </p:txBody>
      </p:sp>
      <p:sp>
        <p:nvSpPr>
          <p:cNvPr id="24" name="Text 22"/>
          <p:cNvSpPr/>
          <p:nvPr/>
        </p:nvSpPr>
        <p:spPr>
          <a:xfrm>
            <a:off x="6492240" y="1965960"/>
            <a:ext cx="2286000" cy="457200"/>
          </a:xfrm>
          <a:prstGeom prst="rect">
            <a:avLst/>
          </a:prstGeom>
          <a:noFill/>
          <a:ln/>
        </p:spPr>
        <p:txBody>
          <a:bodyPr wrap="square" rtlCol="0" anchor="ctr"/>
          <a:lstStyle/>
          <a:p>
            <a:pPr algn="ctr" indent="0" marL="0">
              <a:buNone/>
            </a:pPr>
            <a:r>
              <a:rPr lang="en-US" sz="2400" b="1" dirty="0">
                <a:solidFill>
                  <a:srgbClr val="E63946"/>
                </a:solidFill>
                <a:latin typeface="Cambria" pitchFamily="34" charset="0"/>
                <a:ea typeface="Cambria" pitchFamily="34" charset="-122"/>
                <a:cs typeface="Cambria" pitchFamily="34" charset="-120"/>
              </a:rPr>
              <a:t>94%</a:t>
            </a:r>
            <a:endParaRPr lang="en-US" sz="2400" dirty="0"/>
          </a:p>
        </p:txBody>
      </p:sp>
      <p:sp>
        <p:nvSpPr>
          <p:cNvPr id="25" name="Text 23"/>
          <p:cNvSpPr/>
          <p:nvPr/>
        </p:nvSpPr>
        <p:spPr>
          <a:xfrm>
            <a:off x="6492240" y="2423160"/>
            <a:ext cx="2286000" cy="41148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Detection</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accuracy</a:t>
            </a:r>
            <a:endParaRPr lang="en-US" sz="1100" dirty="0"/>
          </a:p>
        </p:txBody>
      </p:sp>
      <p:sp>
        <p:nvSpPr>
          <p:cNvPr id="26" name="Text 24"/>
          <p:cNvSpPr/>
          <p:nvPr/>
        </p:nvSpPr>
        <p:spPr>
          <a:xfrm>
            <a:off x="6492240" y="2971800"/>
            <a:ext cx="2286000" cy="457200"/>
          </a:xfrm>
          <a:prstGeom prst="rect">
            <a:avLst/>
          </a:prstGeom>
          <a:noFill/>
          <a:ln/>
        </p:spPr>
        <p:txBody>
          <a:bodyPr wrap="square" rtlCol="0" anchor="ctr"/>
          <a:lstStyle/>
          <a:p>
            <a:pPr algn="ctr" indent="0" marL="0">
              <a:buNone/>
            </a:pPr>
            <a:r>
              <a:rPr lang="en-US" sz="2400" b="1" dirty="0">
                <a:solidFill>
                  <a:srgbClr val="E63946"/>
                </a:solidFill>
                <a:latin typeface="Cambria" pitchFamily="34" charset="0"/>
                <a:ea typeface="Cambria" pitchFamily="34" charset="-122"/>
                <a:cs typeface="Cambria" pitchFamily="34" charset="-120"/>
              </a:rPr>
              <a:t>1,247</a:t>
            </a:r>
            <a:endParaRPr lang="en-US" sz="2400" dirty="0"/>
          </a:p>
        </p:txBody>
      </p:sp>
      <p:sp>
        <p:nvSpPr>
          <p:cNvPr id="27" name="Text 25"/>
          <p:cNvSpPr/>
          <p:nvPr/>
        </p:nvSpPr>
        <p:spPr>
          <a:xfrm>
            <a:off x="6492240" y="3429000"/>
            <a:ext cx="2286000" cy="41148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Scams blocked</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today</a:t>
            </a:r>
            <a:endParaRPr lang="en-US" sz="1100" dirty="0"/>
          </a:p>
        </p:txBody>
      </p:sp>
      <p:sp>
        <p:nvSpPr>
          <p:cNvPr id="28" name="Text 26"/>
          <p:cNvSpPr/>
          <p:nvPr/>
        </p:nvSpPr>
        <p:spPr>
          <a:xfrm>
            <a:off x="6492240" y="3977640"/>
            <a:ext cx="2286000" cy="457200"/>
          </a:xfrm>
          <a:prstGeom prst="rect">
            <a:avLst/>
          </a:prstGeom>
          <a:noFill/>
          <a:ln/>
        </p:spPr>
        <p:txBody>
          <a:bodyPr wrap="square" rtlCol="0" anchor="ctr"/>
          <a:lstStyle/>
          <a:p>
            <a:pPr algn="ctr" indent="0" marL="0">
              <a:buNone/>
            </a:pPr>
            <a:r>
              <a:rPr lang="en-US" sz="2400" b="1" dirty="0">
                <a:solidFill>
                  <a:srgbClr val="E63946"/>
                </a:solidFill>
                <a:latin typeface="Cambria" pitchFamily="34" charset="0"/>
                <a:ea typeface="Cambria" pitchFamily="34" charset="-122"/>
                <a:cs typeface="Cambria" pitchFamily="34" charset="-120"/>
              </a:rPr>
              <a:t>&lt;2s</a:t>
            </a:r>
            <a:endParaRPr lang="en-US" sz="2400" dirty="0"/>
          </a:p>
        </p:txBody>
      </p:sp>
      <p:sp>
        <p:nvSpPr>
          <p:cNvPr id="29" name="Text 27"/>
          <p:cNvSpPr/>
          <p:nvPr/>
        </p:nvSpPr>
        <p:spPr>
          <a:xfrm>
            <a:off x="6492240" y="4434840"/>
            <a:ext cx="2286000" cy="41148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Response</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time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oundRect">
            <a:avLst/>
          </a:prstGeom>
          <a:solidFill>
            <a:srgbClr val="F39C12"/>
          </a:solidFill>
          <a:ln w="12700">
            <a:solidFill>
              <a:srgbClr val="F39C12"/>
            </a:solidFill>
            <a:prstDash val="solid"/>
          </a:ln>
        </p:spPr>
      </p:sp>
      <p:sp>
        <p:nvSpPr>
          <p:cNvPr id="3" name="Text 1"/>
          <p:cNvSpPr/>
          <p:nvPr/>
        </p:nvSpPr>
        <p:spPr>
          <a:xfrm>
            <a:off x="548640" y="182880"/>
            <a:ext cx="3657600" cy="320040"/>
          </a:xfrm>
          <a:prstGeom prst="rect">
            <a:avLst/>
          </a:prstGeom>
          <a:noFill/>
          <a:ln/>
        </p:spPr>
        <p:txBody>
          <a:bodyPr wrap="square" rtlCol="0" anchor="ctr"/>
          <a:lstStyle/>
          <a:p>
            <a:pPr indent="0" marL="0">
              <a:buNone/>
            </a:pPr>
            <a:r>
              <a:rPr lang="en-US" sz="1100" b="1" dirty="0">
                <a:solidFill>
                  <a:srgbClr val="F39C12"/>
                </a:solidFill>
                <a:latin typeface="Calibri" pitchFamily="34" charset="0"/>
                <a:ea typeface="Calibri" pitchFamily="34" charset="-122"/>
                <a:cs typeface="Calibri" pitchFamily="34" charset="-120"/>
              </a:rPr>
              <a:t>MODULE 2</a:t>
            </a:r>
            <a:endParaRPr lang="en-US" sz="1100" dirty="0"/>
          </a:p>
        </p:txBody>
      </p:sp>
      <p:sp>
        <p:nvSpPr>
          <p:cNvPr id="4" name="Text 2"/>
          <p:cNvSpPr/>
          <p:nvPr/>
        </p:nvSpPr>
        <p:spPr>
          <a:xfrm>
            <a:off x="548640" y="457200"/>
            <a:ext cx="54864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Counterfeit Currency AI</a:t>
            </a:r>
            <a:endParaRPr lang="en-US" sz="3200" dirty="0"/>
          </a:p>
        </p:txBody>
      </p:sp>
      <p:sp>
        <p:nvSpPr>
          <p:cNvPr id="5" name="Text 3"/>
          <p:cNvSpPr/>
          <p:nvPr/>
        </p:nvSpPr>
        <p:spPr>
          <a:xfrm>
            <a:off x="548640" y="1051560"/>
            <a:ext cx="548640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8-point computer vision security check in under 2 seconds</a:t>
            </a:r>
            <a:endParaRPr lang="en-US" sz="1400" dirty="0"/>
          </a:p>
        </p:txBody>
      </p:sp>
      <p:sp>
        <p:nvSpPr>
          <p:cNvPr id="6" name="Shape 4"/>
          <p:cNvSpPr/>
          <p:nvPr/>
        </p:nvSpPr>
        <p:spPr>
          <a:xfrm>
            <a:off x="548640" y="1691640"/>
            <a:ext cx="365760" cy="365760"/>
          </a:xfrm>
          <a:prstGeom prst="ellipse">
            <a:avLst/>
          </a:prstGeom>
          <a:solidFill>
            <a:srgbClr val="2ECC71"/>
          </a:solidFill>
          <a:ln w="12700">
            <a:solidFill>
              <a:srgbClr val="2ECC71"/>
            </a:solidFill>
            <a:prstDash val="solid"/>
          </a:ln>
        </p:spPr>
      </p:sp>
      <p:sp>
        <p:nvSpPr>
          <p:cNvPr id="7" name="Text 5"/>
          <p:cNvSpPr/>
          <p:nvPr/>
        </p:nvSpPr>
        <p:spPr>
          <a:xfrm>
            <a:off x="548640" y="1691640"/>
            <a:ext cx="365760" cy="3657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1005840" y="1673352"/>
            <a:ext cx="3474720" cy="411480"/>
          </a:xfrm>
          <a:prstGeom prst="rect">
            <a:avLst/>
          </a:prstGeom>
          <a:noFill/>
          <a:ln/>
        </p:spPr>
        <p:txBody>
          <a:bodyPr wrap="square" rtlCol="0" anchor="ctr"/>
          <a:lstStyle/>
          <a:p>
            <a:pPr indent="0" marL="0">
              <a:buNone/>
            </a:pPr>
            <a:r>
              <a:rPr lang="en-US" sz="1200" dirty="0">
                <a:solidFill>
                  <a:srgbClr val="E8EDF4"/>
                </a:solidFill>
                <a:latin typeface="Calibri" pitchFamily="34" charset="0"/>
                <a:ea typeface="Calibri" pitchFamily="34" charset="-122"/>
                <a:cs typeface="Calibri" pitchFamily="34" charset="-120"/>
              </a:rPr>
              <a:t>Microprint security thread</a:t>
            </a:r>
            <a:endParaRPr lang="en-US" sz="1200" dirty="0"/>
          </a:p>
        </p:txBody>
      </p:sp>
      <p:sp>
        <p:nvSpPr>
          <p:cNvPr id="9" name="Shape 7"/>
          <p:cNvSpPr/>
          <p:nvPr/>
        </p:nvSpPr>
        <p:spPr>
          <a:xfrm>
            <a:off x="4480560" y="1691640"/>
            <a:ext cx="365760" cy="365760"/>
          </a:xfrm>
          <a:prstGeom prst="ellipse">
            <a:avLst/>
          </a:prstGeom>
          <a:solidFill>
            <a:srgbClr val="2ECC71"/>
          </a:solidFill>
          <a:ln w="12700">
            <a:solidFill>
              <a:srgbClr val="2ECC71"/>
            </a:solidFill>
            <a:prstDash val="solid"/>
          </a:ln>
        </p:spPr>
      </p:sp>
      <p:sp>
        <p:nvSpPr>
          <p:cNvPr id="10" name="Text 8"/>
          <p:cNvSpPr/>
          <p:nvPr/>
        </p:nvSpPr>
        <p:spPr>
          <a:xfrm>
            <a:off x="4480560" y="1691640"/>
            <a:ext cx="365760" cy="3657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4937760" y="1673352"/>
            <a:ext cx="3474720" cy="411480"/>
          </a:xfrm>
          <a:prstGeom prst="rect">
            <a:avLst/>
          </a:prstGeom>
          <a:noFill/>
          <a:ln/>
        </p:spPr>
        <p:txBody>
          <a:bodyPr wrap="square" rtlCol="0" anchor="ctr"/>
          <a:lstStyle/>
          <a:p>
            <a:pPr indent="0" marL="0">
              <a:buNone/>
            </a:pPr>
            <a:r>
              <a:rPr lang="en-US" sz="1200" dirty="0">
                <a:solidFill>
                  <a:srgbClr val="E8EDF4"/>
                </a:solidFill>
                <a:latin typeface="Calibri" pitchFamily="34" charset="0"/>
                <a:ea typeface="Calibri" pitchFamily="34" charset="-122"/>
                <a:cs typeface="Calibri" pitchFamily="34" charset="-120"/>
              </a:rPr>
              <a:t>Hologram colour-shift</a:t>
            </a:r>
            <a:endParaRPr lang="en-US" sz="1200" dirty="0"/>
          </a:p>
        </p:txBody>
      </p:sp>
      <p:sp>
        <p:nvSpPr>
          <p:cNvPr id="12" name="Shape 10"/>
          <p:cNvSpPr/>
          <p:nvPr/>
        </p:nvSpPr>
        <p:spPr>
          <a:xfrm>
            <a:off x="548640" y="2441448"/>
            <a:ext cx="365760" cy="365760"/>
          </a:xfrm>
          <a:prstGeom prst="ellipse">
            <a:avLst/>
          </a:prstGeom>
          <a:solidFill>
            <a:srgbClr val="2ECC71"/>
          </a:solidFill>
          <a:ln w="12700">
            <a:solidFill>
              <a:srgbClr val="2ECC71"/>
            </a:solidFill>
            <a:prstDash val="solid"/>
          </a:ln>
        </p:spPr>
      </p:sp>
      <p:sp>
        <p:nvSpPr>
          <p:cNvPr id="13" name="Text 11"/>
          <p:cNvSpPr/>
          <p:nvPr/>
        </p:nvSpPr>
        <p:spPr>
          <a:xfrm>
            <a:off x="548640" y="2441448"/>
            <a:ext cx="365760" cy="3657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1005840" y="2423160"/>
            <a:ext cx="3474720" cy="411480"/>
          </a:xfrm>
          <a:prstGeom prst="rect">
            <a:avLst/>
          </a:prstGeom>
          <a:noFill/>
          <a:ln/>
        </p:spPr>
        <p:txBody>
          <a:bodyPr wrap="square" rtlCol="0" anchor="ctr"/>
          <a:lstStyle/>
          <a:p>
            <a:pPr indent="0" marL="0">
              <a:buNone/>
            </a:pPr>
            <a:r>
              <a:rPr lang="en-US" sz="1200" dirty="0">
                <a:solidFill>
                  <a:srgbClr val="E8EDF4"/>
                </a:solidFill>
                <a:latin typeface="Calibri" pitchFamily="34" charset="0"/>
                <a:ea typeface="Calibri" pitchFamily="34" charset="-122"/>
                <a:cs typeface="Calibri" pitchFamily="34" charset="-120"/>
              </a:rPr>
              <a:t>Serial number pattern</a:t>
            </a:r>
            <a:endParaRPr lang="en-US" sz="1200" dirty="0"/>
          </a:p>
        </p:txBody>
      </p:sp>
      <p:sp>
        <p:nvSpPr>
          <p:cNvPr id="15" name="Shape 13"/>
          <p:cNvSpPr/>
          <p:nvPr/>
        </p:nvSpPr>
        <p:spPr>
          <a:xfrm>
            <a:off x="4480560" y="2441448"/>
            <a:ext cx="365760" cy="365760"/>
          </a:xfrm>
          <a:prstGeom prst="ellipse">
            <a:avLst/>
          </a:prstGeom>
          <a:solidFill>
            <a:srgbClr val="2ECC71"/>
          </a:solidFill>
          <a:ln w="12700">
            <a:solidFill>
              <a:srgbClr val="2ECC71"/>
            </a:solidFill>
            <a:prstDash val="solid"/>
          </a:ln>
        </p:spPr>
      </p:sp>
      <p:sp>
        <p:nvSpPr>
          <p:cNvPr id="16" name="Text 14"/>
          <p:cNvSpPr/>
          <p:nvPr/>
        </p:nvSpPr>
        <p:spPr>
          <a:xfrm>
            <a:off x="4480560" y="2441448"/>
            <a:ext cx="365760" cy="3657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4937760" y="2423160"/>
            <a:ext cx="3474720" cy="411480"/>
          </a:xfrm>
          <a:prstGeom prst="rect">
            <a:avLst/>
          </a:prstGeom>
          <a:noFill/>
          <a:ln/>
        </p:spPr>
        <p:txBody>
          <a:bodyPr wrap="square" rtlCol="0" anchor="ctr"/>
          <a:lstStyle/>
          <a:p>
            <a:pPr indent="0" marL="0">
              <a:buNone/>
            </a:pPr>
            <a:r>
              <a:rPr lang="en-US" sz="1200" dirty="0">
                <a:solidFill>
                  <a:srgbClr val="E8EDF4"/>
                </a:solidFill>
                <a:latin typeface="Calibri" pitchFamily="34" charset="0"/>
                <a:ea typeface="Calibri" pitchFamily="34" charset="-122"/>
                <a:cs typeface="Calibri" pitchFamily="34" charset="-120"/>
              </a:rPr>
              <a:t>UV fluorescent ink</a:t>
            </a:r>
            <a:endParaRPr lang="en-US" sz="1200" dirty="0"/>
          </a:p>
        </p:txBody>
      </p:sp>
      <p:sp>
        <p:nvSpPr>
          <p:cNvPr id="18" name="Shape 16"/>
          <p:cNvSpPr/>
          <p:nvPr/>
        </p:nvSpPr>
        <p:spPr>
          <a:xfrm>
            <a:off x="548640" y="3191256"/>
            <a:ext cx="365760" cy="365760"/>
          </a:xfrm>
          <a:prstGeom prst="ellipse">
            <a:avLst/>
          </a:prstGeom>
          <a:solidFill>
            <a:srgbClr val="2ECC71"/>
          </a:solidFill>
          <a:ln w="12700">
            <a:solidFill>
              <a:srgbClr val="2ECC71"/>
            </a:solidFill>
            <a:prstDash val="solid"/>
          </a:ln>
        </p:spPr>
      </p:sp>
      <p:sp>
        <p:nvSpPr>
          <p:cNvPr id="19" name="Text 17"/>
          <p:cNvSpPr/>
          <p:nvPr/>
        </p:nvSpPr>
        <p:spPr>
          <a:xfrm>
            <a:off x="548640" y="3191256"/>
            <a:ext cx="365760" cy="3657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1005840" y="3172968"/>
            <a:ext cx="3474720" cy="411480"/>
          </a:xfrm>
          <a:prstGeom prst="rect">
            <a:avLst/>
          </a:prstGeom>
          <a:noFill/>
          <a:ln/>
        </p:spPr>
        <p:txBody>
          <a:bodyPr wrap="square" rtlCol="0" anchor="ctr"/>
          <a:lstStyle/>
          <a:p>
            <a:pPr indent="0" marL="0">
              <a:buNone/>
            </a:pPr>
            <a:r>
              <a:rPr lang="en-US" sz="1200" dirty="0">
                <a:solidFill>
                  <a:srgbClr val="E8EDF4"/>
                </a:solidFill>
                <a:latin typeface="Calibri" pitchFamily="34" charset="0"/>
                <a:ea typeface="Calibri" pitchFamily="34" charset="-122"/>
                <a:cs typeface="Calibri" pitchFamily="34" charset="-120"/>
              </a:rPr>
              <a:t>Optically variable ink</a:t>
            </a:r>
            <a:endParaRPr lang="en-US" sz="1200" dirty="0"/>
          </a:p>
        </p:txBody>
      </p:sp>
      <p:sp>
        <p:nvSpPr>
          <p:cNvPr id="21" name="Shape 19"/>
          <p:cNvSpPr/>
          <p:nvPr/>
        </p:nvSpPr>
        <p:spPr>
          <a:xfrm>
            <a:off x="4480560" y="3191256"/>
            <a:ext cx="365760" cy="365760"/>
          </a:xfrm>
          <a:prstGeom prst="ellipse">
            <a:avLst/>
          </a:prstGeom>
          <a:solidFill>
            <a:srgbClr val="2ECC71"/>
          </a:solidFill>
          <a:ln w="12700">
            <a:solidFill>
              <a:srgbClr val="2ECC71"/>
            </a:solidFill>
            <a:prstDash val="solid"/>
          </a:ln>
        </p:spPr>
      </p:sp>
      <p:sp>
        <p:nvSpPr>
          <p:cNvPr id="22" name="Text 20"/>
          <p:cNvSpPr/>
          <p:nvPr/>
        </p:nvSpPr>
        <p:spPr>
          <a:xfrm>
            <a:off x="4480560" y="3191256"/>
            <a:ext cx="365760" cy="3657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4937760" y="3172968"/>
            <a:ext cx="3474720" cy="411480"/>
          </a:xfrm>
          <a:prstGeom prst="rect">
            <a:avLst/>
          </a:prstGeom>
          <a:noFill/>
          <a:ln/>
        </p:spPr>
        <p:txBody>
          <a:bodyPr wrap="square" rtlCol="0" anchor="ctr"/>
          <a:lstStyle/>
          <a:p>
            <a:pPr indent="0" marL="0">
              <a:buNone/>
            </a:pPr>
            <a:r>
              <a:rPr lang="en-US" sz="1200" dirty="0">
                <a:solidFill>
                  <a:srgbClr val="E8EDF4"/>
                </a:solidFill>
                <a:latin typeface="Calibri" pitchFamily="34" charset="0"/>
                <a:ea typeface="Calibri" pitchFamily="34" charset="-122"/>
                <a:cs typeface="Calibri" pitchFamily="34" charset="-120"/>
              </a:rPr>
              <a:t>Watermark depth</a:t>
            </a:r>
            <a:endParaRPr lang="en-US" sz="1200" dirty="0"/>
          </a:p>
        </p:txBody>
      </p:sp>
      <p:sp>
        <p:nvSpPr>
          <p:cNvPr id="24" name="Shape 22"/>
          <p:cNvSpPr/>
          <p:nvPr/>
        </p:nvSpPr>
        <p:spPr>
          <a:xfrm>
            <a:off x="548640" y="3941064"/>
            <a:ext cx="365760" cy="365760"/>
          </a:xfrm>
          <a:prstGeom prst="ellipse">
            <a:avLst/>
          </a:prstGeom>
          <a:solidFill>
            <a:srgbClr val="2ECC71"/>
          </a:solidFill>
          <a:ln w="12700">
            <a:solidFill>
              <a:srgbClr val="2ECC71"/>
            </a:solidFill>
            <a:prstDash val="solid"/>
          </a:ln>
        </p:spPr>
      </p:sp>
      <p:sp>
        <p:nvSpPr>
          <p:cNvPr id="25" name="Text 23"/>
          <p:cNvSpPr/>
          <p:nvPr/>
        </p:nvSpPr>
        <p:spPr>
          <a:xfrm>
            <a:off x="548640" y="3941064"/>
            <a:ext cx="365760" cy="3657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1005840" y="3922776"/>
            <a:ext cx="3474720" cy="411480"/>
          </a:xfrm>
          <a:prstGeom prst="rect">
            <a:avLst/>
          </a:prstGeom>
          <a:noFill/>
          <a:ln/>
        </p:spPr>
        <p:txBody>
          <a:bodyPr wrap="square" rtlCol="0" anchor="ctr"/>
          <a:lstStyle/>
          <a:p>
            <a:pPr indent="0" marL="0">
              <a:buNone/>
            </a:pPr>
            <a:r>
              <a:rPr lang="en-US" sz="1200" dirty="0">
                <a:solidFill>
                  <a:srgbClr val="E8EDF4"/>
                </a:solidFill>
                <a:latin typeface="Calibri" pitchFamily="34" charset="0"/>
                <a:ea typeface="Calibri" pitchFamily="34" charset="-122"/>
                <a:cs typeface="Calibri" pitchFamily="34" charset="-120"/>
              </a:rPr>
              <a:t>Intaglio raised print</a:t>
            </a:r>
            <a:endParaRPr lang="en-US" sz="1200" dirty="0"/>
          </a:p>
        </p:txBody>
      </p:sp>
      <p:sp>
        <p:nvSpPr>
          <p:cNvPr id="27" name="Shape 25"/>
          <p:cNvSpPr/>
          <p:nvPr/>
        </p:nvSpPr>
        <p:spPr>
          <a:xfrm>
            <a:off x="4480560" y="3941064"/>
            <a:ext cx="365760" cy="365760"/>
          </a:xfrm>
          <a:prstGeom prst="ellipse">
            <a:avLst/>
          </a:prstGeom>
          <a:solidFill>
            <a:srgbClr val="2ECC71"/>
          </a:solidFill>
          <a:ln w="12700">
            <a:solidFill>
              <a:srgbClr val="2ECC71"/>
            </a:solidFill>
            <a:prstDash val="solid"/>
          </a:ln>
        </p:spPr>
      </p:sp>
      <p:sp>
        <p:nvSpPr>
          <p:cNvPr id="28" name="Text 26"/>
          <p:cNvSpPr/>
          <p:nvPr/>
        </p:nvSpPr>
        <p:spPr>
          <a:xfrm>
            <a:off x="4480560" y="3941064"/>
            <a:ext cx="365760" cy="3657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4937760" y="3922776"/>
            <a:ext cx="3474720" cy="411480"/>
          </a:xfrm>
          <a:prstGeom prst="rect">
            <a:avLst/>
          </a:prstGeom>
          <a:noFill/>
          <a:ln/>
        </p:spPr>
        <p:txBody>
          <a:bodyPr wrap="square" rtlCol="0" anchor="ctr"/>
          <a:lstStyle/>
          <a:p>
            <a:pPr indent="0" marL="0">
              <a:buNone/>
            </a:pPr>
            <a:r>
              <a:rPr lang="en-US" sz="1200" dirty="0">
                <a:solidFill>
                  <a:srgbClr val="E8EDF4"/>
                </a:solidFill>
                <a:latin typeface="Calibri" pitchFamily="34" charset="0"/>
                <a:ea typeface="Calibri" pitchFamily="34" charset="-122"/>
                <a:cs typeface="Calibri" pitchFamily="34" charset="-120"/>
              </a:rPr>
              <a:t>RBI database match</a:t>
            </a:r>
            <a:endParaRPr lang="en-US" sz="1200" dirty="0"/>
          </a:p>
        </p:txBody>
      </p:sp>
      <p:sp>
        <p:nvSpPr>
          <p:cNvPr id="30" name="Shape 28"/>
          <p:cNvSpPr/>
          <p:nvPr/>
        </p:nvSpPr>
        <p:spPr>
          <a:xfrm>
            <a:off x="6492240" y="1371600"/>
            <a:ext cx="2286000" cy="3383280"/>
          </a:xfrm>
          <a:prstGeom prst="roundRect">
            <a:avLst>
              <a:gd name="adj" fmla="val 4800"/>
            </a:avLst>
          </a:prstGeom>
          <a:solidFill>
            <a:srgbClr val="12233D"/>
          </a:solidFill>
          <a:ln/>
          <a:effectLst>
            <a:outerShdw sx="100000" sy="100000" kx="0" ky="0" algn="bl" rotWithShape="0" blurRad="127000" dist="38100" dir="2700000">
              <a:srgbClr val="000000">
                <a:alpha val="18000"/>
              </a:srgbClr>
            </a:outerShdw>
          </a:effectLst>
        </p:spPr>
      </p:sp>
      <p:sp>
        <p:nvSpPr>
          <p:cNvPr id="31" name="Text 29"/>
          <p:cNvSpPr/>
          <p:nvPr/>
        </p:nvSpPr>
        <p:spPr>
          <a:xfrm>
            <a:off x="6492240" y="1463040"/>
            <a:ext cx="2286000"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Scan Result</a:t>
            </a:r>
            <a:endParaRPr lang="en-US" sz="1300" dirty="0"/>
          </a:p>
        </p:txBody>
      </p:sp>
      <p:sp>
        <p:nvSpPr>
          <p:cNvPr id="32" name="Shape 30"/>
          <p:cNvSpPr/>
          <p:nvPr/>
        </p:nvSpPr>
        <p:spPr>
          <a:xfrm>
            <a:off x="6675120" y="1920240"/>
            <a:ext cx="1920240" cy="594360"/>
          </a:xfrm>
          <a:prstGeom prst="roundRect">
            <a:avLst>
              <a:gd name="adj" fmla="val 15385"/>
            </a:avLst>
          </a:prstGeom>
          <a:solidFill>
            <a:srgbClr val="E63946"/>
          </a:solidFill>
          <a:ln/>
        </p:spPr>
      </p:sp>
      <p:sp>
        <p:nvSpPr>
          <p:cNvPr id="33" name="Text 31"/>
          <p:cNvSpPr/>
          <p:nvPr/>
        </p:nvSpPr>
        <p:spPr>
          <a:xfrm>
            <a:off x="6675120" y="1920240"/>
            <a:ext cx="1920240" cy="5943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COUNTERFEIT</a:t>
            </a:r>
            <a:endParaRPr lang="en-US" sz="1300" dirty="0"/>
          </a:p>
        </p:txBody>
      </p:sp>
      <p:sp>
        <p:nvSpPr>
          <p:cNvPr id="34" name="Text 32"/>
          <p:cNvSpPr/>
          <p:nvPr/>
        </p:nvSpPr>
        <p:spPr>
          <a:xfrm>
            <a:off x="6492240" y="2606040"/>
            <a:ext cx="2286000" cy="1371600"/>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₹500 · 3 checks failed</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Confidence: 96%</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FICN DB match: YES</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Serial: 4BG441892</a:t>
            </a:r>
            <a:endParaRPr lang="en-US" sz="1100" dirty="0"/>
          </a:p>
        </p:txBody>
      </p:sp>
      <p:sp>
        <p:nvSpPr>
          <p:cNvPr id="35" name="Text 33"/>
          <p:cNvSpPr/>
          <p:nvPr/>
        </p:nvSpPr>
        <p:spPr>
          <a:xfrm>
            <a:off x="6492240" y="4023360"/>
            <a:ext cx="2286000" cy="594360"/>
          </a:xfrm>
          <a:prstGeom prst="rect">
            <a:avLst/>
          </a:prstGeom>
          <a:noFill/>
          <a:ln/>
        </p:spPr>
        <p:txBody>
          <a:bodyPr wrap="square" rtlCol="0" anchor="ctr"/>
          <a:lstStyle/>
          <a:p>
            <a:pPr algn="ctr" indent="0" marL="0">
              <a:buNone/>
            </a:pPr>
            <a:r>
              <a:rPr lang="en-US" sz="1800" b="1" dirty="0">
                <a:solidFill>
                  <a:srgbClr val="F39C12"/>
                </a:solidFill>
                <a:latin typeface="Cambria" pitchFamily="34" charset="0"/>
                <a:ea typeface="Cambria" pitchFamily="34" charset="-122"/>
                <a:cs typeface="Cambria" pitchFamily="34" charset="-120"/>
              </a:rPr>
              <a:t>98.3%</a:t>
            </a:r>
            <a:endParaRPr lang="en-US" sz="1800" dirty="0"/>
          </a:p>
          <a:p>
            <a:pPr algn="ctr" indent="0" marL="0">
              <a:buNone/>
            </a:pPr>
            <a:r>
              <a:rPr lang="en-US" sz="1800" b="1" dirty="0">
                <a:solidFill>
                  <a:srgbClr val="F39C12"/>
                </a:solidFill>
                <a:latin typeface="Cambria" pitchFamily="34" charset="0"/>
                <a:ea typeface="Cambria" pitchFamily="34" charset="-122"/>
                <a:cs typeface="Cambria" pitchFamily="34" charset="-120"/>
              </a:rPr>
              <a:t>Accuracy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oundRect">
            <a:avLst/>
          </a:prstGeom>
          <a:solidFill>
            <a:srgbClr val="3B82F6"/>
          </a:solidFill>
          <a:ln w="12700">
            <a:solidFill>
              <a:srgbClr val="3B82F6"/>
            </a:solidFill>
            <a:prstDash val="solid"/>
          </a:ln>
        </p:spPr>
      </p:sp>
      <p:sp>
        <p:nvSpPr>
          <p:cNvPr id="3" name="Text 1"/>
          <p:cNvSpPr/>
          <p:nvPr/>
        </p:nvSpPr>
        <p:spPr>
          <a:xfrm>
            <a:off x="548640" y="182880"/>
            <a:ext cx="3657600" cy="320040"/>
          </a:xfrm>
          <a:prstGeom prst="rect">
            <a:avLst/>
          </a:prstGeom>
          <a:noFill/>
          <a:ln/>
        </p:spPr>
        <p:txBody>
          <a:bodyPr wrap="square"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MODULE 3</a:t>
            </a:r>
            <a:endParaRPr lang="en-US" sz="1100" dirty="0"/>
          </a:p>
        </p:txBody>
      </p:sp>
      <p:sp>
        <p:nvSpPr>
          <p:cNvPr id="4" name="Text 2"/>
          <p:cNvSpPr/>
          <p:nvPr/>
        </p:nvSpPr>
        <p:spPr>
          <a:xfrm>
            <a:off x="548640" y="457200"/>
            <a:ext cx="59436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Fraud Network Graph AI</a:t>
            </a:r>
            <a:endParaRPr lang="en-US" sz="3200" dirty="0"/>
          </a:p>
        </p:txBody>
      </p:sp>
      <p:sp>
        <p:nvSpPr>
          <p:cNvPr id="5" name="Text 3"/>
          <p:cNvSpPr/>
          <p:nvPr/>
        </p:nvSpPr>
        <p:spPr>
          <a:xfrm>
            <a:off x="548640" y="1051560"/>
            <a:ext cx="640080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Graph neural networks map organised crime rings in real time</a:t>
            </a:r>
            <a:endParaRPr lang="en-US" sz="1400" dirty="0"/>
          </a:p>
        </p:txBody>
      </p:sp>
      <p:sp>
        <p:nvSpPr>
          <p:cNvPr id="6" name="Shape 4"/>
          <p:cNvSpPr/>
          <p:nvPr/>
        </p:nvSpPr>
        <p:spPr>
          <a:xfrm>
            <a:off x="548640" y="1554480"/>
            <a:ext cx="8138160" cy="987552"/>
          </a:xfrm>
          <a:prstGeom prst="roundRect">
            <a:avLst>
              <a:gd name="adj" fmla="val 9259"/>
            </a:avLst>
          </a:prstGeom>
          <a:solidFill>
            <a:srgbClr val="12233D"/>
          </a:solidFill>
          <a:ln/>
          <a:effectLst>
            <a:outerShdw sx="100000" sy="100000" kx="0" ky="0" algn="bl" rotWithShape="0" blurRad="127000" dist="38100" dir="2700000">
              <a:srgbClr val="000000">
                <a:alpha val="18000"/>
              </a:srgbClr>
            </a:outerShdw>
          </a:effectLst>
        </p:spPr>
      </p:sp>
      <p:sp>
        <p:nvSpPr>
          <p:cNvPr id="7" name="Shape 5"/>
          <p:cNvSpPr/>
          <p:nvPr/>
        </p:nvSpPr>
        <p:spPr>
          <a:xfrm>
            <a:off x="594360" y="1627632"/>
            <a:ext cx="822960" cy="457200"/>
          </a:xfrm>
          <a:prstGeom prst="roundRect">
            <a:avLst>
              <a:gd name="adj" fmla="val 14000"/>
            </a:avLst>
          </a:prstGeom>
          <a:solidFill>
            <a:srgbClr val="E63946"/>
          </a:solidFill>
          <a:ln/>
        </p:spPr>
      </p:sp>
      <p:sp>
        <p:nvSpPr>
          <p:cNvPr id="8" name="Text 6"/>
          <p:cNvSpPr/>
          <p:nvPr/>
        </p:nvSpPr>
        <p:spPr>
          <a:xfrm>
            <a:off x="594360" y="1627632"/>
            <a:ext cx="82296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CRITICAL</a:t>
            </a:r>
            <a:endParaRPr lang="en-US" sz="800" dirty="0"/>
          </a:p>
        </p:txBody>
      </p:sp>
      <p:sp>
        <p:nvSpPr>
          <p:cNvPr id="9" name="Text 7"/>
          <p:cNvSpPr/>
          <p:nvPr/>
        </p:nvSpPr>
        <p:spPr>
          <a:xfrm>
            <a:off x="1508760" y="1627632"/>
            <a:ext cx="4114800" cy="347472"/>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Jharkhand Compound Ring</a:t>
            </a:r>
            <a:endParaRPr lang="en-US" sz="1300" dirty="0"/>
          </a:p>
        </p:txBody>
      </p:sp>
      <p:sp>
        <p:nvSpPr>
          <p:cNvPr id="10" name="Text 8"/>
          <p:cNvSpPr/>
          <p:nvPr/>
        </p:nvSpPr>
        <p:spPr>
          <a:xfrm>
            <a:off x="1508760" y="1993392"/>
            <a:ext cx="4114800" cy="32004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ID: FRG-2291  ·  47 nodes  ·  Est. loss: ₹12.4Cr</a:t>
            </a:r>
            <a:endParaRPr lang="en-US" sz="1100" dirty="0"/>
          </a:p>
        </p:txBody>
      </p:sp>
      <p:sp>
        <p:nvSpPr>
          <p:cNvPr id="11" name="Shape 9"/>
          <p:cNvSpPr/>
          <p:nvPr/>
        </p:nvSpPr>
        <p:spPr>
          <a:xfrm>
            <a:off x="5760720" y="1783080"/>
            <a:ext cx="2560320" cy="182880"/>
          </a:xfrm>
          <a:prstGeom prst="rect">
            <a:avLst/>
          </a:prstGeom>
          <a:solidFill>
            <a:srgbClr val="1E3A5F"/>
          </a:solidFill>
          <a:ln w="12700">
            <a:solidFill>
              <a:srgbClr val="1E3A5F"/>
            </a:solidFill>
            <a:prstDash val="solid"/>
          </a:ln>
        </p:spPr>
      </p:sp>
      <p:sp>
        <p:nvSpPr>
          <p:cNvPr id="12" name="Shape 10"/>
          <p:cNvSpPr/>
          <p:nvPr/>
        </p:nvSpPr>
        <p:spPr>
          <a:xfrm>
            <a:off x="5760720" y="1783080"/>
            <a:ext cx="2329891" cy="182880"/>
          </a:xfrm>
          <a:prstGeom prst="rect">
            <a:avLst/>
          </a:prstGeom>
          <a:solidFill>
            <a:srgbClr val="E63946"/>
          </a:solidFill>
          <a:ln w="12700">
            <a:solidFill>
              <a:srgbClr val="E63946"/>
            </a:solidFill>
            <a:prstDash val="solid"/>
          </a:ln>
        </p:spPr>
      </p:sp>
      <p:sp>
        <p:nvSpPr>
          <p:cNvPr id="13" name="Text 11"/>
          <p:cNvSpPr/>
          <p:nvPr/>
        </p:nvSpPr>
        <p:spPr>
          <a:xfrm>
            <a:off x="5760720" y="2011680"/>
            <a:ext cx="2560320" cy="274320"/>
          </a:xfrm>
          <a:prstGeom prst="rect">
            <a:avLst/>
          </a:prstGeom>
          <a:noFill/>
          <a:ln/>
        </p:spPr>
        <p:txBody>
          <a:bodyPr wrap="square" rtlCol="0" anchor="ctr"/>
          <a:lstStyle/>
          <a:p>
            <a:pPr algn="ctr" indent="0" marL="0">
              <a:buNone/>
            </a:pPr>
            <a:r>
              <a:rPr lang="en-US" sz="1000" dirty="0">
                <a:solidFill>
                  <a:srgbClr val="E8EDF4"/>
                </a:solidFill>
                <a:latin typeface="Calibri" pitchFamily="34" charset="0"/>
                <a:ea typeface="Calibri" pitchFamily="34" charset="-122"/>
                <a:cs typeface="Calibri" pitchFamily="34" charset="-120"/>
              </a:rPr>
              <a:t>91% confidence</a:t>
            </a:r>
            <a:endParaRPr lang="en-US" sz="1000" dirty="0"/>
          </a:p>
        </p:txBody>
      </p:sp>
      <p:sp>
        <p:nvSpPr>
          <p:cNvPr id="14" name="Shape 12"/>
          <p:cNvSpPr/>
          <p:nvPr/>
        </p:nvSpPr>
        <p:spPr>
          <a:xfrm>
            <a:off x="548640" y="2670048"/>
            <a:ext cx="8138160" cy="987552"/>
          </a:xfrm>
          <a:prstGeom prst="roundRect">
            <a:avLst>
              <a:gd name="adj" fmla="val 9259"/>
            </a:avLst>
          </a:prstGeom>
          <a:solidFill>
            <a:srgbClr val="12233D"/>
          </a:solidFill>
          <a:ln/>
          <a:effectLst>
            <a:outerShdw sx="100000" sy="100000" kx="0" ky="0" algn="bl" rotWithShape="0" blurRad="127000" dist="38100" dir="2700000">
              <a:srgbClr val="000000">
                <a:alpha val="18000"/>
              </a:srgbClr>
            </a:outerShdw>
          </a:effectLst>
        </p:spPr>
      </p:sp>
      <p:sp>
        <p:nvSpPr>
          <p:cNvPr id="15" name="Shape 13"/>
          <p:cNvSpPr/>
          <p:nvPr/>
        </p:nvSpPr>
        <p:spPr>
          <a:xfrm>
            <a:off x="594360" y="2743200"/>
            <a:ext cx="822960" cy="457200"/>
          </a:xfrm>
          <a:prstGeom prst="roundRect">
            <a:avLst>
              <a:gd name="adj" fmla="val 14000"/>
            </a:avLst>
          </a:prstGeom>
          <a:solidFill>
            <a:srgbClr val="F39C12"/>
          </a:solidFill>
          <a:ln/>
        </p:spPr>
      </p:sp>
      <p:sp>
        <p:nvSpPr>
          <p:cNvPr id="16" name="Text 14"/>
          <p:cNvSpPr/>
          <p:nvPr/>
        </p:nvSpPr>
        <p:spPr>
          <a:xfrm>
            <a:off x="594360" y="2743200"/>
            <a:ext cx="82296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17" name="Text 15"/>
          <p:cNvSpPr/>
          <p:nvPr/>
        </p:nvSpPr>
        <p:spPr>
          <a:xfrm>
            <a:off x="1508760" y="2743200"/>
            <a:ext cx="4114800" cy="347472"/>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Delhi Mule Network</a:t>
            </a:r>
            <a:endParaRPr lang="en-US" sz="1300" dirty="0"/>
          </a:p>
        </p:txBody>
      </p:sp>
      <p:sp>
        <p:nvSpPr>
          <p:cNvPr id="18" name="Text 16"/>
          <p:cNvSpPr/>
          <p:nvPr/>
        </p:nvSpPr>
        <p:spPr>
          <a:xfrm>
            <a:off x="1508760" y="3108960"/>
            <a:ext cx="4114800" cy="32004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ID: MUL-0091  ·  23 nodes  ·  Est. loss: ₹3.1Cr</a:t>
            </a:r>
            <a:endParaRPr lang="en-US" sz="1100" dirty="0"/>
          </a:p>
        </p:txBody>
      </p:sp>
      <p:sp>
        <p:nvSpPr>
          <p:cNvPr id="19" name="Shape 17"/>
          <p:cNvSpPr/>
          <p:nvPr/>
        </p:nvSpPr>
        <p:spPr>
          <a:xfrm>
            <a:off x="5760720" y="2898648"/>
            <a:ext cx="2560320" cy="182880"/>
          </a:xfrm>
          <a:prstGeom prst="rect">
            <a:avLst/>
          </a:prstGeom>
          <a:solidFill>
            <a:srgbClr val="1E3A5F"/>
          </a:solidFill>
          <a:ln w="12700">
            <a:solidFill>
              <a:srgbClr val="1E3A5F"/>
            </a:solidFill>
            <a:prstDash val="solid"/>
          </a:ln>
        </p:spPr>
      </p:sp>
      <p:sp>
        <p:nvSpPr>
          <p:cNvPr id="20" name="Shape 18"/>
          <p:cNvSpPr/>
          <p:nvPr/>
        </p:nvSpPr>
        <p:spPr>
          <a:xfrm>
            <a:off x="5760720" y="2898648"/>
            <a:ext cx="1997050" cy="182880"/>
          </a:xfrm>
          <a:prstGeom prst="rect">
            <a:avLst/>
          </a:prstGeom>
          <a:solidFill>
            <a:srgbClr val="F39C12"/>
          </a:solidFill>
          <a:ln w="12700">
            <a:solidFill>
              <a:srgbClr val="F39C12"/>
            </a:solidFill>
            <a:prstDash val="solid"/>
          </a:ln>
        </p:spPr>
      </p:sp>
      <p:sp>
        <p:nvSpPr>
          <p:cNvPr id="21" name="Text 19"/>
          <p:cNvSpPr/>
          <p:nvPr/>
        </p:nvSpPr>
        <p:spPr>
          <a:xfrm>
            <a:off x="5760720" y="3127248"/>
            <a:ext cx="2560320" cy="274320"/>
          </a:xfrm>
          <a:prstGeom prst="rect">
            <a:avLst/>
          </a:prstGeom>
          <a:noFill/>
          <a:ln/>
        </p:spPr>
        <p:txBody>
          <a:bodyPr wrap="square" rtlCol="0" anchor="ctr"/>
          <a:lstStyle/>
          <a:p>
            <a:pPr algn="ctr" indent="0" marL="0">
              <a:buNone/>
            </a:pPr>
            <a:r>
              <a:rPr lang="en-US" sz="1000" dirty="0">
                <a:solidFill>
                  <a:srgbClr val="E8EDF4"/>
                </a:solidFill>
                <a:latin typeface="Calibri" pitchFamily="34" charset="0"/>
                <a:ea typeface="Calibri" pitchFamily="34" charset="-122"/>
                <a:cs typeface="Calibri" pitchFamily="34" charset="-120"/>
              </a:rPr>
              <a:t>78% confidence</a:t>
            </a:r>
            <a:endParaRPr lang="en-US" sz="1000" dirty="0"/>
          </a:p>
        </p:txBody>
      </p:sp>
      <p:sp>
        <p:nvSpPr>
          <p:cNvPr id="22" name="Shape 20"/>
          <p:cNvSpPr/>
          <p:nvPr/>
        </p:nvSpPr>
        <p:spPr>
          <a:xfrm>
            <a:off x="548640" y="3785616"/>
            <a:ext cx="8138160" cy="987552"/>
          </a:xfrm>
          <a:prstGeom prst="roundRect">
            <a:avLst>
              <a:gd name="adj" fmla="val 9259"/>
            </a:avLst>
          </a:prstGeom>
          <a:solidFill>
            <a:srgbClr val="12233D"/>
          </a:solidFill>
          <a:ln/>
          <a:effectLst>
            <a:outerShdw sx="100000" sy="100000" kx="0" ky="0" algn="bl" rotWithShape="0" blurRad="127000" dist="38100" dir="2700000">
              <a:srgbClr val="000000">
                <a:alpha val="18000"/>
              </a:srgbClr>
            </a:outerShdw>
          </a:effectLst>
        </p:spPr>
      </p:sp>
      <p:sp>
        <p:nvSpPr>
          <p:cNvPr id="23" name="Shape 21"/>
          <p:cNvSpPr/>
          <p:nvPr/>
        </p:nvSpPr>
        <p:spPr>
          <a:xfrm>
            <a:off x="594360" y="3858768"/>
            <a:ext cx="822960" cy="457200"/>
          </a:xfrm>
          <a:prstGeom prst="roundRect">
            <a:avLst>
              <a:gd name="adj" fmla="val 14000"/>
            </a:avLst>
          </a:prstGeom>
          <a:solidFill>
            <a:srgbClr val="E63946"/>
          </a:solidFill>
          <a:ln/>
        </p:spPr>
      </p:sp>
      <p:sp>
        <p:nvSpPr>
          <p:cNvPr id="24" name="Text 22"/>
          <p:cNvSpPr/>
          <p:nvPr/>
        </p:nvSpPr>
        <p:spPr>
          <a:xfrm>
            <a:off x="594360" y="3858768"/>
            <a:ext cx="82296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CRITICAL</a:t>
            </a:r>
            <a:endParaRPr lang="en-US" sz="800" dirty="0"/>
          </a:p>
        </p:txBody>
      </p:sp>
      <p:sp>
        <p:nvSpPr>
          <p:cNvPr id="25" name="Text 23"/>
          <p:cNvSpPr/>
          <p:nvPr/>
        </p:nvSpPr>
        <p:spPr>
          <a:xfrm>
            <a:off x="1508760" y="3858768"/>
            <a:ext cx="4114800" cy="347472"/>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Mumbai UPI Phishing Ring</a:t>
            </a:r>
            <a:endParaRPr lang="en-US" sz="1300" dirty="0"/>
          </a:p>
        </p:txBody>
      </p:sp>
      <p:sp>
        <p:nvSpPr>
          <p:cNvPr id="26" name="Text 24"/>
          <p:cNvSpPr/>
          <p:nvPr/>
        </p:nvSpPr>
        <p:spPr>
          <a:xfrm>
            <a:off x="1508760" y="4224528"/>
            <a:ext cx="4114800" cy="32004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ID: UPI-3344  ·  31 nodes  ·  Est. loss: ₹5.2Cr</a:t>
            </a:r>
            <a:endParaRPr lang="en-US" sz="1100" dirty="0"/>
          </a:p>
        </p:txBody>
      </p:sp>
      <p:sp>
        <p:nvSpPr>
          <p:cNvPr id="27" name="Shape 25"/>
          <p:cNvSpPr/>
          <p:nvPr/>
        </p:nvSpPr>
        <p:spPr>
          <a:xfrm>
            <a:off x="5760720" y="4014216"/>
            <a:ext cx="2560320" cy="182880"/>
          </a:xfrm>
          <a:prstGeom prst="rect">
            <a:avLst/>
          </a:prstGeom>
          <a:solidFill>
            <a:srgbClr val="1E3A5F"/>
          </a:solidFill>
          <a:ln w="12700">
            <a:solidFill>
              <a:srgbClr val="1E3A5F"/>
            </a:solidFill>
            <a:prstDash val="solid"/>
          </a:ln>
        </p:spPr>
      </p:sp>
      <p:sp>
        <p:nvSpPr>
          <p:cNvPr id="28" name="Shape 26"/>
          <p:cNvSpPr/>
          <p:nvPr/>
        </p:nvSpPr>
        <p:spPr>
          <a:xfrm>
            <a:off x="5760720" y="4014216"/>
            <a:ext cx="2150669" cy="182880"/>
          </a:xfrm>
          <a:prstGeom prst="rect">
            <a:avLst/>
          </a:prstGeom>
          <a:solidFill>
            <a:srgbClr val="E63946"/>
          </a:solidFill>
          <a:ln w="12700">
            <a:solidFill>
              <a:srgbClr val="E63946"/>
            </a:solidFill>
            <a:prstDash val="solid"/>
          </a:ln>
        </p:spPr>
      </p:sp>
      <p:sp>
        <p:nvSpPr>
          <p:cNvPr id="29" name="Text 27"/>
          <p:cNvSpPr/>
          <p:nvPr/>
        </p:nvSpPr>
        <p:spPr>
          <a:xfrm>
            <a:off x="5760720" y="4242816"/>
            <a:ext cx="2560320" cy="274320"/>
          </a:xfrm>
          <a:prstGeom prst="rect">
            <a:avLst/>
          </a:prstGeom>
          <a:noFill/>
          <a:ln/>
        </p:spPr>
        <p:txBody>
          <a:bodyPr wrap="square" rtlCol="0" anchor="ctr"/>
          <a:lstStyle/>
          <a:p>
            <a:pPr algn="ctr" indent="0" marL="0">
              <a:buNone/>
            </a:pPr>
            <a:r>
              <a:rPr lang="en-US" sz="1000" dirty="0">
                <a:solidFill>
                  <a:srgbClr val="E8EDF4"/>
                </a:solidFill>
                <a:latin typeface="Calibri" pitchFamily="34" charset="0"/>
                <a:ea typeface="Calibri" pitchFamily="34" charset="-122"/>
                <a:cs typeface="Calibri" pitchFamily="34" charset="-120"/>
              </a:rPr>
              <a:t>84% confidence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oundRect">
            <a:avLst/>
          </a:prstGeom>
          <a:solidFill>
            <a:srgbClr val="2ECC71"/>
          </a:solidFill>
          <a:ln w="12700">
            <a:solidFill>
              <a:srgbClr val="2ECC71"/>
            </a:solidFill>
            <a:prstDash val="solid"/>
          </a:ln>
        </p:spPr>
      </p:sp>
      <p:sp>
        <p:nvSpPr>
          <p:cNvPr id="3" name="Text 1"/>
          <p:cNvSpPr/>
          <p:nvPr/>
        </p:nvSpPr>
        <p:spPr>
          <a:xfrm>
            <a:off x="548640" y="182880"/>
            <a:ext cx="3657600" cy="320040"/>
          </a:xfrm>
          <a:prstGeom prst="rect">
            <a:avLst/>
          </a:prstGeom>
          <a:noFill/>
          <a:ln/>
        </p:spPr>
        <p:txBody>
          <a:bodyPr wrap="square"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MODULE 4</a:t>
            </a:r>
            <a:endParaRPr lang="en-US" sz="1100" dirty="0"/>
          </a:p>
        </p:txBody>
      </p:sp>
      <p:sp>
        <p:nvSpPr>
          <p:cNvPr id="4" name="Text 2"/>
          <p:cNvSpPr/>
          <p:nvPr/>
        </p:nvSpPr>
        <p:spPr>
          <a:xfrm>
            <a:off x="548640" y="457200"/>
            <a:ext cx="54864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Citizen Fraud Shield</a:t>
            </a:r>
            <a:endParaRPr lang="en-US" sz="3200" dirty="0"/>
          </a:p>
        </p:txBody>
      </p:sp>
      <p:sp>
        <p:nvSpPr>
          <p:cNvPr id="5" name="Text 3"/>
          <p:cNvSpPr/>
          <p:nvPr/>
        </p:nvSpPr>
        <p:spPr>
          <a:xfrm>
            <a:off x="548640" y="1051560"/>
            <a:ext cx="548640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24/7 AI fraud advisor in 12 Indian languages</a:t>
            </a:r>
            <a:endParaRPr lang="en-US" sz="1400" dirty="0"/>
          </a:p>
        </p:txBody>
      </p:sp>
      <p:sp>
        <p:nvSpPr>
          <p:cNvPr id="6" name="Shape 4"/>
          <p:cNvSpPr/>
          <p:nvPr/>
        </p:nvSpPr>
        <p:spPr>
          <a:xfrm>
            <a:off x="4572000" y="1554480"/>
            <a:ext cx="3840480" cy="658368"/>
          </a:xfrm>
          <a:prstGeom prst="roundRect">
            <a:avLst>
              <a:gd name="adj" fmla="val 16667"/>
            </a:avLst>
          </a:prstGeom>
          <a:solidFill>
            <a:srgbClr val="1A3A6B"/>
          </a:solidFill>
          <a:ln/>
        </p:spPr>
      </p:sp>
      <p:sp>
        <p:nvSpPr>
          <p:cNvPr id="7" name="Text 5"/>
          <p:cNvSpPr/>
          <p:nvPr/>
        </p:nvSpPr>
        <p:spPr>
          <a:xfrm>
            <a:off x="4663440" y="1600200"/>
            <a:ext cx="3657600" cy="548640"/>
          </a:xfrm>
          <a:prstGeom prst="rect">
            <a:avLst/>
          </a:prstGeom>
          <a:noFill/>
          <a:ln/>
        </p:spPr>
        <p:txBody>
          <a:bodyPr wrap="square" rtlCol="0" anchor="ctr"/>
          <a:lstStyle/>
          <a:p>
            <a:pPr indent="0" marL="0">
              <a:buNone/>
            </a:pPr>
            <a:r>
              <a:rPr lang="en-US" sz="1000" dirty="0">
                <a:solidFill>
                  <a:srgbClr val="E8EDF4"/>
                </a:solidFill>
                <a:latin typeface="Calibri" pitchFamily="34" charset="0"/>
                <a:ea typeface="Calibri" pitchFamily="34" charset="-122"/>
                <a:cs typeface="Calibri" pitchFamily="34" charset="-120"/>
              </a:rPr>
              <a:t>Someone from CBI called me. They said my Aadhaar is linked to crime and I will be arrested.</a:t>
            </a:r>
            <a:endParaRPr lang="en-US" sz="1000" dirty="0"/>
          </a:p>
        </p:txBody>
      </p:sp>
      <p:sp>
        <p:nvSpPr>
          <p:cNvPr id="8" name="Shape 6"/>
          <p:cNvSpPr/>
          <p:nvPr/>
        </p:nvSpPr>
        <p:spPr>
          <a:xfrm>
            <a:off x="640080" y="2377440"/>
            <a:ext cx="3840480" cy="658368"/>
          </a:xfrm>
          <a:prstGeom prst="roundRect">
            <a:avLst>
              <a:gd name="adj" fmla="val 16667"/>
            </a:avLst>
          </a:prstGeom>
          <a:solidFill>
            <a:srgbClr val="1C1C2E"/>
          </a:solidFill>
          <a:ln/>
        </p:spPr>
      </p:sp>
      <p:sp>
        <p:nvSpPr>
          <p:cNvPr id="9" name="Text 7"/>
          <p:cNvSpPr/>
          <p:nvPr/>
        </p:nvSpPr>
        <p:spPr>
          <a:xfrm>
            <a:off x="731520" y="2423160"/>
            <a:ext cx="3657600" cy="548640"/>
          </a:xfrm>
          <a:prstGeom prst="rect">
            <a:avLst/>
          </a:prstGeom>
          <a:noFill/>
          <a:ln/>
        </p:spPr>
        <p:txBody>
          <a:bodyPr wrap="square" rtlCol="0" anchor="ctr"/>
          <a:lstStyle/>
          <a:p>
            <a:pPr indent="0" marL="0">
              <a:buNone/>
            </a:pPr>
            <a:r>
              <a:rPr lang="en-US" sz="1000" dirty="0">
                <a:solidFill>
                  <a:srgbClr val="E8EDF4"/>
                </a:solidFill>
                <a:latin typeface="Calibri" pitchFamily="34" charset="0"/>
                <a:ea typeface="Calibri" pitchFamily="34" charset="-122"/>
                <a:cs typeface="Calibri" pitchFamily="34" charset="-120"/>
              </a:rPr>
              <a:t>🚨 DIGITAL ARREST SCAM. No government agency will ever arrest you via video call. Hang up immediately. Call 1930.</a:t>
            </a:r>
            <a:endParaRPr lang="en-US" sz="1000" dirty="0"/>
          </a:p>
        </p:txBody>
      </p:sp>
      <p:sp>
        <p:nvSpPr>
          <p:cNvPr id="10" name="Shape 8"/>
          <p:cNvSpPr/>
          <p:nvPr/>
        </p:nvSpPr>
        <p:spPr>
          <a:xfrm>
            <a:off x="4572000" y="3200400"/>
            <a:ext cx="3840480" cy="658368"/>
          </a:xfrm>
          <a:prstGeom prst="roundRect">
            <a:avLst>
              <a:gd name="adj" fmla="val 16667"/>
            </a:avLst>
          </a:prstGeom>
          <a:solidFill>
            <a:srgbClr val="1A3A6B"/>
          </a:solidFill>
          <a:ln/>
        </p:spPr>
      </p:sp>
      <p:sp>
        <p:nvSpPr>
          <p:cNvPr id="11" name="Text 9"/>
          <p:cNvSpPr/>
          <p:nvPr/>
        </p:nvSpPr>
        <p:spPr>
          <a:xfrm>
            <a:off x="4663440" y="3246120"/>
            <a:ext cx="3657600" cy="548640"/>
          </a:xfrm>
          <a:prstGeom prst="rect">
            <a:avLst/>
          </a:prstGeom>
          <a:noFill/>
          <a:ln/>
        </p:spPr>
        <p:txBody>
          <a:bodyPr wrap="square" rtlCol="0" anchor="ctr"/>
          <a:lstStyle/>
          <a:p>
            <a:pPr indent="0" marL="0">
              <a:buNone/>
            </a:pPr>
            <a:r>
              <a:rPr lang="en-US" sz="1000" dirty="0">
                <a:solidFill>
                  <a:srgbClr val="E8EDF4"/>
                </a:solidFill>
                <a:latin typeface="Calibri" pitchFamily="34" charset="0"/>
                <a:ea typeface="Calibri" pitchFamily="34" charset="-122"/>
                <a:cs typeface="Calibri" pitchFamily="34" charset="-120"/>
              </a:rPr>
              <a:t>मुझे एक job offer आई है, पहले fees देनी होगी</a:t>
            </a:r>
            <a:endParaRPr lang="en-US" sz="1000" dirty="0"/>
          </a:p>
        </p:txBody>
      </p:sp>
      <p:sp>
        <p:nvSpPr>
          <p:cNvPr id="12" name="Shape 10"/>
          <p:cNvSpPr/>
          <p:nvPr/>
        </p:nvSpPr>
        <p:spPr>
          <a:xfrm>
            <a:off x="640080" y="4023360"/>
            <a:ext cx="3840480" cy="658368"/>
          </a:xfrm>
          <a:prstGeom prst="roundRect">
            <a:avLst>
              <a:gd name="adj" fmla="val 16667"/>
            </a:avLst>
          </a:prstGeom>
          <a:solidFill>
            <a:srgbClr val="1C1C2E"/>
          </a:solidFill>
          <a:ln/>
        </p:spPr>
      </p:sp>
      <p:sp>
        <p:nvSpPr>
          <p:cNvPr id="13" name="Text 11"/>
          <p:cNvSpPr/>
          <p:nvPr/>
        </p:nvSpPr>
        <p:spPr>
          <a:xfrm>
            <a:off x="731520" y="4069080"/>
            <a:ext cx="3657600" cy="548640"/>
          </a:xfrm>
          <a:prstGeom prst="rect">
            <a:avLst/>
          </a:prstGeom>
          <a:noFill/>
          <a:ln/>
        </p:spPr>
        <p:txBody>
          <a:bodyPr wrap="square" rtlCol="0" anchor="ctr"/>
          <a:lstStyle/>
          <a:p>
            <a:pPr indent="0" marL="0">
              <a:buNone/>
            </a:pPr>
            <a:r>
              <a:rPr lang="en-US" sz="1000" dirty="0">
                <a:solidFill>
                  <a:srgbClr val="E8EDF4"/>
                </a:solidFill>
                <a:latin typeface="Calibri" pitchFamily="34" charset="0"/>
                <a:ea typeface="Calibri" pitchFamily="34" charset="-122"/>
                <a:cs typeface="Calibri" pitchFamily="34" charset="-120"/>
              </a:rPr>
              <a:t>⚠️ जॉब स्कैम है। कोई भी असली नियोक्ता नौकरी के लिए fees नहीं मांगता। कुछ भी pay मत करें।</a:t>
            </a:r>
            <a:endParaRPr lang="en-US" sz="1000" dirty="0"/>
          </a:p>
        </p:txBody>
      </p:sp>
      <p:sp>
        <p:nvSpPr>
          <p:cNvPr id="14" name="Text 12"/>
          <p:cNvSpPr/>
          <p:nvPr/>
        </p:nvSpPr>
        <p:spPr>
          <a:xfrm>
            <a:off x="548640" y="4663440"/>
            <a:ext cx="2743200" cy="32004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Available in 12 languages:</a:t>
            </a:r>
            <a:endParaRPr lang="en-US" sz="1100" dirty="0"/>
          </a:p>
        </p:txBody>
      </p:sp>
      <p:sp>
        <p:nvSpPr>
          <p:cNvPr id="15" name="Shape 13"/>
          <p:cNvSpPr/>
          <p:nvPr/>
        </p:nvSpPr>
        <p:spPr>
          <a:xfrm>
            <a:off x="3383280" y="4663440"/>
            <a:ext cx="868680" cy="320040"/>
          </a:xfrm>
          <a:prstGeom prst="roundRect">
            <a:avLst>
              <a:gd name="adj" fmla="val 22857"/>
            </a:avLst>
          </a:prstGeom>
          <a:solidFill>
            <a:srgbClr val="12233D"/>
          </a:solidFill>
          <a:ln/>
        </p:spPr>
      </p:sp>
      <p:sp>
        <p:nvSpPr>
          <p:cNvPr id="16" name="Text 14"/>
          <p:cNvSpPr/>
          <p:nvPr/>
        </p:nvSpPr>
        <p:spPr>
          <a:xfrm>
            <a:off x="3383280" y="4663440"/>
            <a:ext cx="868680" cy="320040"/>
          </a:xfrm>
          <a:prstGeom prst="rect">
            <a:avLst/>
          </a:prstGeom>
          <a:noFill/>
          <a:ln/>
        </p:spPr>
        <p:txBody>
          <a:bodyPr wrap="square" rtlCol="0" anchor="ctr"/>
          <a:lstStyle/>
          <a:p>
            <a:pPr algn="ctr" indent="0" marL="0">
              <a:buNone/>
            </a:pPr>
            <a:r>
              <a:rPr lang="en-US" sz="900" dirty="0">
                <a:solidFill>
                  <a:srgbClr val="E8EDF4"/>
                </a:solidFill>
                <a:latin typeface="Calibri" pitchFamily="34" charset="0"/>
                <a:ea typeface="Calibri" pitchFamily="34" charset="-122"/>
                <a:cs typeface="Calibri" pitchFamily="34" charset="-120"/>
              </a:rPr>
              <a:t>English</a:t>
            </a:r>
            <a:endParaRPr lang="en-US" sz="900" dirty="0"/>
          </a:p>
        </p:txBody>
      </p:sp>
      <p:sp>
        <p:nvSpPr>
          <p:cNvPr id="17" name="Shape 15"/>
          <p:cNvSpPr/>
          <p:nvPr/>
        </p:nvSpPr>
        <p:spPr>
          <a:xfrm>
            <a:off x="4343400" y="4663440"/>
            <a:ext cx="868680" cy="320040"/>
          </a:xfrm>
          <a:prstGeom prst="roundRect">
            <a:avLst>
              <a:gd name="adj" fmla="val 22857"/>
            </a:avLst>
          </a:prstGeom>
          <a:solidFill>
            <a:srgbClr val="12233D"/>
          </a:solidFill>
          <a:ln/>
        </p:spPr>
      </p:sp>
      <p:sp>
        <p:nvSpPr>
          <p:cNvPr id="18" name="Text 16"/>
          <p:cNvSpPr/>
          <p:nvPr/>
        </p:nvSpPr>
        <p:spPr>
          <a:xfrm>
            <a:off x="4343400" y="4663440"/>
            <a:ext cx="868680" cy="320040"/>
          </a:xfrm>
          <a:prstGeom prst="rect">
            <a:avLst/>
          </a:prstGeom>
          <a:noFill/>
          <a:ln/>
        </p:spPr>
        <p:txBody>
          <a:bodyPr wrap="square" rtlCol="0" anchor="ctr"/>
          <a:lstStyle/>
          <a:p>
            <a:pPr algn="ctr" indent="0" marL="0">
              <a:buNone/>
            </a:pPr>
            <a:r>
              <a:rPr lang="en-US" sz="900" dirty="0">
                <a:solidFill>
                  <a:srgbClr val="E8EDF4"/>
                </a:solidFill>
                <a:latin typeface="Calibri" pitchFamily="34" charset="0"/>
                <a:ea typeface="Calibri" pitchFamily="34" charset="-122"/>
                <a:cs typeface="Calibri" pitchFamily="34" charset="-120"/>
              </a:rPr>
              <a:t>हिंदी</a:t>
            </a:r>
            <a:endParaRPr lang="en-US" sz="900" dirty="0"/>
          </a:p>
        </p:txBody>
      </p:sp>
      <p:sp>
        <p:nvSpPr>
          <p:cNvPr id="19" name="Shape 17"/>
          <p:cNvSpPr/>
          <p:nvPr/>
        </p:nvSpPr>
        <p:spPr>
          <a:xfrm>
            <a:off x="5303520" y="4663440"/>
            <a:ext cx="868680" cy="320040"/>
          </a:xfrm>
          <a:prstGeom prst="roundRect">
            <a:avLst>
              <a:gd name="adj" fmla="val 22857"/>
            </a:avLst>
          </a:prstGeom>
          <a:solidFill>
            <a:srgbClr val="12233D"/>
          </a:solidFill>
          <a:ln/>
        </p:spPr>
      </p:sp>
      <p:sp>
        <p:nvSpPr>
          <p:cNvPr id="20" name="Text 18"/>
          <p:cNvSpPr/>
          <p:nvPr/>
        </p:nvSpPr>
        <p:spPr>
          <a:xfrm>
            <a:off x="5303520" y="4663440"/>
            <a:ext cx="868680" cy="320040"/>
          </a:xfrm>
          <a:prstGeom prst="rect">
            <a:avLst/>
          </a:prstGeom>
          <a:noFill/>
          <a:ln/>
        </p:spPr>
        <p:txBody>
          <a:bodyPr wrap="square" rtlCol="0" anchor="ctr"/>
          <a:lstStyle/>
          <a:p>
            <a:pPr algn="ctr" indent="0" marL="0">
              <a:buNone/>
            </a:pPr>
            <a:r>
              <a:rPr lang="en-US" sz="900" dirty="0">
                <a:solidFill>
                  <a:srgbClr val="E8EDF4"/>
                </a:solidFill>
                <a:latin typeface="Calibri" pitchFamily="34" charset="0"/>
                <a:ea typeface="Calibri" pitchFamily="34" charset="-122"/>
                <a:cs typeface="Calibri" pitchFamily="34" charset="-120"/>
              </a:rPr>
              <a:t>বাংলা</a:t>
            </a:r>
            <a:endParaRPr lang="en-US" sz="900" dirty="0"/>
          </a:p>
        </p:txBody>
      </p:sp>
      <p:sp>
        <p:nvSpPr>
          <p:cNvPr id="21" name="Shape 19"/>
          <p:cNvSpPr/>
          <p:nvPr/>
        </p:nvSpPr>
        <p:spPr>
          <a:xfrm>
            <a:off x="6263640" y="4663440"/>
            <a:ext cx="868680" cy="320040"/>
          </a:xfrm>
          <a:prstGeom prst="roundRect">
            <a:avLst>
              <a:gd name="adj" fmla="val 22857"/>
            </a:avLst>
          </a:prstGeom>
          <a:solidFill>
            <a:srgbClr val="12233D"/>
          </a:solidFill>
          <a:ln/>
        </p:spPr>
      </p:sp>
      <p:sp>
        <p:nvSpPr>
          <p:cNvPr id="22" name="Text 20"/>
          <p:cNvSpPr/>
          <p:nvPr/>
        </p:nvSpPr>
        <p:spPr>
          <a:xfrm>
            <a:off x="6263640" y="4663440"/>
            <a:ext cx="868680" cy="320040"/>
          </a:xfrm>
          <a:prstGeom prst="rect">
            <a:avLst/>
          </a:prstGeom>
          <a:noFill/>
          <a:ln/>
        </p:spPr>
        <p:txBody>
          <a:bodyPr wrap="square" rtlCol="0" anchor="ctr"/>
          <a:lstStyle/>
          <a:p>
            <a:pPr algn="ctr" indent="0" marL="0">
              <a:buNone/>
            </a:pPr>
            <a:r>
              <a:rPr lang="en-US" sz="900" dirty="0">
                <a:solidFill>
                  <a:srgbClr val="E8EDF4"/>
                </a:solidFill>
                <a:latin typeface="Calibri" pitchFamily="34" charset="0"/>
                <a:ea typeface="Calibri" pitchFamily="34" charset="-122"/>
                <a:cs typeface="Calibri" pitchFamily="34" charset="-120"/>
              </a:rPr>
              <a:t>தமிழ்</a:t>
            </a:r>
            <a:endParaRPr lang="en-US" sz="900" dirty="0"/>
          </a:p>
        </p:txBody>
      </p:sp>
      <p:sp>
        <p:nvSpPr>
          <p:cNvPr id="23" name="Shape 21"/>
          <p:cNvSpPr/>
          <p:nvPr/>
        </p:nvSpPr>
        <p:spPr>
          <a:xfrm>
            <a:off x="7223760" y="4663440"/>
            <a:ext cx="868680" cy="320040"/>
          </a:xfrm>
          <a:prstGeom prst="roundRect">
            <a:avLst>
              <a:gd name="adj" fmla="val 22857"/>
            </a:avLst>
          </a:prstGeom>
          <a:solidFill>
            <a:srgbClr val="12233D"/>
          </a:solidFill>
          <a:ln/>
        </p:spPr>
      </p:sp>
      <p:sp>
        <p:nvSpPr>
          <p:cNvPr id="24" name="Text 22"/>
          <p:cNvSpPr/>
          <p:nvPr/>
        </p:nvSpPr>
        <p:spPr>
          <a:xfrm>
            <a:off x="7223760" y="4663440"/>
            <a:ext cx="868680" cy="320040"/>
          </a:xfrm>
          <a:prstGeom prst="rect">
            <a:avLst/>
          </a:prstGeom>
          <a:noFill/>
          <a:ln/>
        </p:spPr>
        <p:txBody>
          <a:bodyPr wrap="square" rtlCol="0" anchor="ctr"/>
          <a:lstStyle/>
          <a:p>
            <a:pPr algn="ctr" indent="0" marL="0">
              <a:buNone/>
            </a:pPr>
            <a:r>
              <a:rPr lang="en-US" sz="900" dirty="0">
                <a:solidFill>
                  <a:srgbClr val="E8EDF4"/>
                </a:solidFill>
                <a:latin typeface="Calibri" pitchFamily="34" charset="0"/>
                <a:ea typeface="Calibri" pitchFamily="34" charset="-122"/>
                <a:cs typeface="Calibri" pitchFamily="34" charset="-120"/>
              </a:rPr>
              <a:t>తెలుగు</a:t>
            </a:r>
            <a:endParaRPr lang="en-US" sz="900" dirty="0"/>
          </a:p>
        </p:txBody>
      </p:sp>
      <p:sp>
        <p:nvSpPr>
          <p:cNvPr id="25" name="Shape 23"/>
          <p:cNvSpPr/>
          <p:nvPr/>
        </p:nvSpPr>
        <p:spPr>
          <a:xfrm>
            <a:off x="8183880" y="4663440"/>
            <a:ext cx="868680" cy="320040"/>
          </a:xfrm>
          <a:prstGeom prst="roundRect">
            <a:avLst>
              <a:gd name="adj" fmla="val 22857"/>
            </a:avLst>
          </a:prstGeom>
          <a:solidFill>
            <a:srgbClr val="12233D"/>
          </a:solidFill>
          <a:ln/>
        </p:spPr>
      </p:sp>
      <p:sp>
        <p:nvSpPr>
          <p:cNvPr id="26" name="Text 24"/>
          <p:cNvSpPr/>
          <p:nvPr/>
        </p:nvSpPr>
        <p:spPr>
          <a:xfrm>
            <a:off x="8183880" y="4663440"/>
            <a:ext cx="868680" cy="320040"/>
          </a:xfrm>
          <a:prstGeom prst="rect">
            <a:avLst/>
          </a:prstGeom>
          <a:noFill/>
          <a:ln/>
        </p:spPr>
        <p:txBody>
          <a:bodyPr wrap="square" rtlCol="0" anchor="ctr"/>
          <a:lstStyle/>
          <a:p>
            <a:pPr algn="ctr" indent="0" marL="0">
              <a:buNone/>
            </a:pPr>
            <a:r>
              <a:rPr lang="en-US" sz="900" dirty="0">
                <a:solidFill>
                  <a:srgbClr val="E8EDF4"/>
                </a:solidFill>
                <a:latin typeface="Calibri" pitchFamily="34" charset="0"/>
                <a:ea typeface="Calibri" pitchFamily="34" charset="-122"/>
                <a:cs typeface="Calibri" pitchFamily="34" charset="-120"/>
              </a:rPr>
              <a:t>ಕನ್ನಡ</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Live Demo</a:t>
            </a:r>
            <a:endParaRPr lang="en-US" sz="3600" dirty="0"/>
          </a:p>
        </p:txBody>
      </p:sp>
      <p:sp>
        <p:nvSpPr>
          <p:cNvPr id="3" name="Text 1"/>
          <p:cNvSpPr/>
          <p:nvPr/>
        </p:nvSpPr>
        <p:spPr>
          <a:xfrm>
            <a:off x="457200" y="777240"/>
            <a:ext cx="8229600" cy="36576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See SafeGuard AI in action — four modules, one platform</a:t>
            </a:r>
            <a:endParaRPr lang="en-US" sz="1500" dirty="0"/>
          </a:p>
        </p:txBody>
      </p:sp>
      <p:sp>
        <p:nvSpPr>
          <p:cNvPr id="4" name="Shape 2"/>
          <p:cNvSpPr/>
          <p:nvPr/>
        </p:nvSpPr>
        <p:spPr>
          <a:xfrm>
            <a:off x="365760" y="1371600"/>
            <a:ext cx="8412480" cy="594360"/>
          </a:xfrm>
          <a:prstGeom prst="roundRect">
            <a:avLst>
              <a:gd name="adj" fmla="val 15385"/>
            </a:avLst>
          </a:prstGeom>
          <a:solidFill>
            <a:srgbClr val="12233D"/>
          </a:solidFill>
          <a:ln/>
          <a:effectLst>
            <a:outerShdw sx="100000" sy="100000" kx="0" ky="0" algn="bl" rotWithShape="0" blurRad="127000" dist="38100" dir="2700000">
              <a:srgbClr val="000000">
                <a:alpha val="18000"/>
              </a:srgbClr>
            </a:outerShdw>
          </a:effectLst>
        </p:spPr>
      </p:sp>
      <p:sp>
        <p:nvSpPr>
          <p:cNvPr id="5" name="Shape 3"/>
          <p:cNvSpPr/>
          <p:nvPr/>
        </p:nvSpPr>
        <p:spPr>
          <a:xfrm>
            <a:off x="502920" y="1463040"/>
            <a:ext cx="411480" cy="411480"/>
          </a:xfrm>
          <a:prstGeom prst="ellipse">
            <a:avLst/>
          </a:prstGeom>
          <a:solidFill>
            <a:srgbClr val="E63946"/>
          </a:solidFill>
          <a:ln w="12700">
            <a:solidFill>
              <a:srgbClr val="E63946"/>
            </a:solidFill>
            <a:prstDash val="solid"/>
          </a:ln>
        </p:spPr>
      </p:sp>
      <p:sp>
        <p:nvSpPr>
          <p:cNvPr id="6" name="Text 4"/>
          <p:cNvSpPr/>
          <p:nvPr/>
        </p:nvSpPr>
        <p:spPr>
          <a:xfrm>
            <a:off x="502920" y="1463040"/>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1051560" y="1417320"/>
            <a:ext cx="201168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Dashboard</a:t>
            </a:r>
            <a:endParaRPr lang="en-US" sz="1300" dirty="0"/>
          </a:p>
        </p:txBody>
      </p:sp>
      <p:sp>
        <p:nvSpPr>
          <p:cNvPr id="8" name="Text 6"/>
          <p:cNvSpPr/>
          <p:nvPr/>
        </p:nvSpPr>
        <p:spPr>
          <a:xfrm>
            <a:off x="1051560" y="1691640"/>
            <a:ext cx="7315200" cy="256032"/>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Live KPIs, real-time alerts, threat breakdown across India</a:t>
            </a:r>
            <a:endParaRPr lang="en-US" sz="1100" dirty="0"/>
          </a:p>
        </p:txBody>
      </p:sp>
      <p:sp>
        <p:nvSpPr>
          <p:cNvPr id="9" name="Shape 7"/>
          <p:cNvSpPr/>
          <p:nvPr/>
        </p:nvSpPr>
        <p:spPr>
          <a:xfrm>
            <a:off x="365760" y="2084832"/>
            <a:ext cx="8412480" cy="594360"/>
          </a:xfrm>
          <a:prstGeom prst="roundRect">
            <a:avLst>
              <a:gd name="adj" fmla="val 15385"/>
            </a:avLst>
          </a:prstGeom>
          <a:solidFill>
            <a:srgbClr val="12233D"/>
          </a:solidFill>
          <a:ln/>
          <a:effectLst>
            <a:outerShdw sx="100000" sy="100000" kx="0" ky="0" algn="bl" rotWithShape="0" blurRad="127000" dist="38100" dir="2700000">
              <a:srgbClr val="000000">
                <a:alpha val="18000"/>
              </a:srgbClr>
            </a:outerShdw>
          </a:effectLst>
        </p:spPr>
      </p:sp>
      <p:sp>
        <p:nvSpPr>
          <p:cNvPr id="10" name="Shape 8"/>
          <p:cNvSpPr/>
          <p:nvPr/>
        </p:nvSpPr>
        <p:spPr>
          <a:xfrm>
            <a:off x="502920" y="2176272"/>
            <a:ext cx="411480" cy="411480"/>
          </a:xfrm>
          <a:prstGeom prst="ellipse">
            <a:avLst/>
          </a:prstGeom>
          <a:solidFill>
            <a:srgbClr val="F39C12"/>
          </a:solidFill>
          <a:ln w="12700">
            <a:solidFill>
              <a:srgbClr val="F39C12"/>
            </a:solidFill>
            <a:prstDash val="solid"/>
          </a:ln>
        </p:spPr>
      </p:sp>
      <p:sp>
        <p:nvSpPr>
          <p:cNvPr id="11" name="Text 9"/>
          <p:cNvSpPr/>
          <p:nvPr/>
        </p:nvSpPr>
        <p:spPr>
          <a:xfrm>
            <a:off x="502920" y="2176272"/>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1051560" y="2130552"/>
            <a:ext cx="201168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Scam Detector</a:t>
            </a:r>
            <a:endParaRPr lang="en-US" sz="1300" dirty="0"/>
          </a:p>
        </p:txBody>
      </p:sp>
      <p:sp>
        <p:nvSpPr>
          <p:cNvPr id="13" name="Text 11"/>
          <p:cNvSpPr/>
          <p:nvPr/>
        </p:nvSpPr>
        <p:spPr>
          <a:xfrm>
            <a:off x="1051560" y="2404872"/>
            <a:ext cx="7315200" cy="256032"/>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Paste "CBI officer calling about Aadhaar case" → 94% HIGH RISK in 2 seconds</a:t>
            </a:r>
            <a:endParaRPr lang="en-US" sz="1100" dirty="0"/>
          </a:p>
        </p:txBody>
      </p:sp>
      <p:sp>
        <p:nvSpPr>
          <p:cNvPr id="14" name="Shape 12"/>
          <p:cNvSpPr/>
          <p:nvPr/>
        </p:nvSpPr>
        <p:spPr>
          <a:xfrm>
            <a:off x="365760" y="2798064"/>
            <a:ext cx="8412480" cy="594360"/>
          </a:xfrm>
          <a:prstGeom prst="roundRect">
            <a:avLst>
              <a:gd name="adj" fmla="val 15385"/>
            </a:avLst>
          </a:prstGeom>
          <a:solidFill>
            <a:srgbClr val="12233D"/>
          </a:solidFill>
          <a:ln/>
          <a:effectLst>
            <a:outerShdw sx="100000" sy="100000" kx="0" ky="0" algn="bl" rotWithShape="0" blurRad="127000" dist="38100" dir="2700000">
              <a:srgbClr val="000000">
                <a:alpha val="18000"/>
              </a:srgbClr>
            </a:outerShdw>
          </a:effectLst>
        </p:spPr>
      </p:sp>
      <p:sp>
        <p:nvSpPr>
          <p:cNvPr id="15" name="Shape 13"/>
          <p:cNvSpPr/>
          <p:nvPr/>
        </p:nvSpPr>
        <p:spPr>
          <a:xfrm>
            <a:off x="502920" y="2889504"/>
            <a:ext cx="411480" cy="411480"/>
          </a:xfrm>
          <a:prstGeom prst="ellipse">
            <a:avLst/>
          </a:prstGeom>
          <a:solidFill>
            <a:srgbClr val="3B82F6"/>
          </a:solidFill>
          <a:ln w="12700">
            <a:solidFill>
              <a:srgbClr val="3B82F6"/>
            </a:solidFill>
            <a:prstDash val="solid"/>
          </a:ln>
        </p:spPr>
      </p:sp>
      <p:sp>
        <p:nvSpPr>
          <p:cNvPr id="16" name="Text 14"/>
          <p:cNvSpPr/>
          <p:nvPr/>
        </p:nvSpPr>
        <p:spPr>
          <a:xfrm>
            <a:off x="502920" y="2889504"/>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7" name="Text 15"/>
          <p:cNvSpPr/>
          <p:nvPr/>
        </p:nvSpPr>
        <p:spPr>
          <a:xfrm>
            <a:off x="1051560" y="2843784"/>
            <a:ext cx="201168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Currency Scanner</a:t>
            </a:r>
            <a:endParaRPr lang="en-US" sz="1300" dirty="0"/>
          </a:p>
        </p:txBody>
      </p:sp>
      <p:sp>
        <p:nvSpPr>
          <p:cNvPr id="18" name="Text 16"/>
          <p:cNvSpPr/>
          <p:nvPr/>
        </p:nvSpPr>
        <p:spPr>
          <a:xfrm>
            <a:off x="1051560" y="3118104"/>
            <a:ext cx="7315200" cy="256032"/>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Select ₹500 → 8 security checks run → COUNTERFEIT DETECTED banner</a:t>
            </a:r>
            <a:endParaRPr lang="en-US" sz="1100" dirty="0"/>
          </a:p>
        </p:txBody>
      </p:sp>
      <p:sp>
        <p:nvSpPr>
          <p:cNvPr id="19" name="Shape 17"/>
          <p:cNvSpPr/>
          <p:nvPr/>
        </p:nvSpPr>
        <p:spPr>
          <a:xfrm>
            <a:off x="365760" y="3511296"/>
            <a:ext cx="8412480" cy="594360"/>
          </a:xfrm>
          <a:prstGeom prst="roundRect">
            <a:avLst>
              <a:gd name="adj" fmla="val 15385"/>
            </a:avLst>
          </a:prstGeom>
          <a:solidFill>
            <a:srgbClr val="12233D"/>
          </a:solidFill>
          <a:ln/>
          <a:effectLst>
            <a:outerShdw sx="100000" sy="100000" kx="0" ky="0" algn="bl" rotWithShape="0" blurRad="127000" dist="38100" dir="2700000">
              <a:srgbClr val="000000">
                <a:alpha val="18000"/>
              </a:srgbClr>
            </a:outerShdw>
          </a:effectLst>
        </p:spPr>
      </p:sp>
      <p:sp>
        <p:nvSpPr>
          <p:cNvPr id="20" name="Shape 18"/>
          <p:cNvSpPr/>
          <p:nvPr/>
        </p:nvSpPr>
        <p:spPr>
          <a:xfrm>
            <a:off x="502920" y="3602736"/>
            <a:ext cx="411480" cy="411480"/>
          </a:xfrm>
          <a:prstGeom prst="ellipse">
            <a:avLst/>
          </a:prstGeom>
          <a:solidFill>
            <a:srgbClr val="2ECC71"/>
          </a:solidFill>
          <a:ln w="12700">
            <a:solidFill>
              <a:srgbClr val="2ECC71"/>
            </a:solidFill>
            <a:prstDash val="solid"/>
          </a:ln>
        </p:spPr>
      </p:sp>
      <p:sp>
        <p:nvSpPr>
          <p:cNvPr id="21" name="Text 19"/>
          <p:cNvSpPr/>
          <p:nvPr/>
        </p:nvSpPr>
        <p:spPr>
          <a:xfrm>
            <a:off x="502920" y="3602736"/>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2" name="Text 20"/>
          <p:cNvSpPr/>
          <p:nvPr/>
        </p:nvSpPr>
        <p:spPr>
          <a:xfrm>
            <a:off x="1051560" y="3557016"/>
            <a:ext cx="201168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Fraud Network Map</a:t>
            </a:r>
            <a:endParaRPr lang="en-US" sz="1300" dirty="0"/>
          </a:p>
        </p:txBody>
      </p:sp>
      <p:sp>
        <p:nvSpPr>
          <p:cNvPr id="23" name="Text 21"/>
          <p:cNvSpPr/>
          <p:nvPr/>
        </p:nvSpPr>
        <p:spPr>
          <a:xfrm>
            <a:off x="1051560" y="3831336"/>
            <a:ext cx="7315200" cy="256032"/>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India map with live pulsing hotspots, active fraud ring list with confidence bars</a:t>
            </a:r>
            <a:endParaRPr lang="en-US" sz="1100" dirty="0"/>
          </a:p>
        </p:txBody>
      </p:sp>
      <p:sp>
        <p:nvSpPr>
          <p:cNvPr id="24" name="Shape 22"/>
          <p:cNvSpPr/>
          <p:nvPr/>
        </p:nvSpPr>
        <p:spPr>
          <a:xfrm>
            <a:off x="365760" y="4224528"/>
            <a:ext cx="8412480" cy="594360"/>
          </a:xfrm>
          <a:prstGeom prst="roundRect">
            <a:avLst>
              <a:gd name="adj" fmla="val 15385"/>
            </a:avLst>
          </a:prstGeom>
          <a:solidFill>
            <a:srgbClr val="12233D"/>
          </a:solidFill>
          <a:ln/>
          <a:effectLst>
            <a:outerShdw sx="100000" sy="100000" kx="0" ky="0" algn="bl" rotWithShape="0" blurRad="127000" dist="38100" dir="2700000">
              <a:srgbClr val="000000">
                <a:alpha val="18000"/>
              </a:srgbClr>
            </a:outerShdw>
          </a:effectLst>
        </p:spPr>
      </p:sp>
      <p:sp>
        <p:nvSpPr>
          <p:cNvPr id="25" name="Shape 23"/>
          <p:cNvSpPr/>
          <p:nvPr/>
        </p:nvSpPr>
        <p:spPr>
          <a:xfrm>
            <a:off x="502920" y="4315968"/>
            <a:ext cx="411480" cy="411480"/>
          </a:xfrm>
          <a:prstGeom prst="ellipse">
            <a:avLst/>
          </a:prstGeom>
          <a:solidFill>
            <a:srgbClr val="E63946"/>
          </a:solidFill>
          <a:ln w="12700">
            <a:solidFill>
              <a:srgbClr val="E63946"/>
            </a:solidFill>
            <a:prstDash val="solid"/>
          </a:ln>
        </p:spPr>
      </p:sp>
      <p:sp>
        <p:nvSpPr>
          <p:cNvPr id="26" name="Text 24"/>
          <p:cNvSpPr/>
          <p:nvPr/>
        </p:nvSpPr>
        <p:spPr>
          <a:xfrm>
            <a:off x="502920" y="4315968"/>
            <a:ext cx="41148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7" name="Text 25"/>
          <p:cNvSpPr/>
          <p:nvPr/>
        </p:nvSpPr>
        <p:spPr>
          <a:xfrm>
            <a:off x="1051560" y="4270248"/>
            <a:ext cx="201168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Citizen Shield</a:t>
            </a:r>
            <a:endParaRPr lang="en-US" sz="1300" dirty="0"/>
          </a:p>
        </p:txBody>
      </p:sp>
      <p:sp>
        <p:nvSpPr>
          <p:cNvPr id="28" name="Text 26"/>
          <p:cNvSpPr/>
          <p:nvPr/>
        </p:nvSpPr>
        <p:spPr>
          <a:xfrm>
            <a:off x="1051560" y="4544568"/>
            <a:ext cx="7315200" cy="256032"/>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Type "Someone from ED called me" → instant scam verdict in Hindi or English</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Technology Stack</a:t>
            </a:r>
            <a:endParaRPr lang="en-US" sz="3600" dirty="0"/>
          </a:p>
        </p:txBody>
      </p:sp>
      <p:sp>
        <p:nvSpPr>
          <p:cNvPr id="3" name="Shape 1"/>
          <p:cNvSpPr/>
          <p:nvPr/>
        </p:nvSpPr>
        <p:spPr>
          <a:xfrm>
            <a:off x="365760" y="914400"/>
            <a:ext cx="1965960" cy="3931920"/>
          </a:xfrm>
          <a:prstGeom prst="roundRect">
            <a:avLst>
              <a:gd name="adj" fmla="val 5581"/>
            </a:avLst>
          </a:prstGeom>
          <a:solidFill>
            <a:srgbClr val="12233D"/>
          </a:solidFill>
          <a:ln/>
          <a:effectLst>
            <a:outerShdw sx="100000" sy="100000" kx="0" ky="0" algn="bl" rotWithShape="0" blurRad="127000" dist="38100" dir="2700000">
              <a:srgbClr val="000000">
                <a:alpha val="18000"/>
              </a:srgbClr>
            </a:outerShdw>
          </a:effectLst>
        </p:spPr>
      </p:sp>
      <p:sp>
        <p:nvSpPr>
          <p:cNvPr id="4" name="Shape 2"/>
          <p:cNvSpPr/>
          <p:nvPr/>
        </p:nvSpPr>
        <p:spPr>
          <a:xfrm>
            <a:off x="457200" y="1005840"/>
            <a:ext cx="1783080" cy="457200"/>
          </a:xfrm>
          <a:prstGeom prst="roundRect">
            <a:avLst>
              <a:gd name="adj" fmla="val 16000"/>
            </a:avLst>
          </a:prstGeom>
          <a:solidFill>
            <a:srgbClr val="E63946"/>
          </a:solidFill>
          <a:ln/>
        </p:spPr>
      </p:sp>
      <p:sp>
        <p:nvSpPr>
          <p:cNvPr id="5" name="Text 3"/>
          <p:cNvSpPr/>
          <p:nvPr/>
        </p:nvSpPr>
        <p:spPr>
          <a:xfrm>
            <a:off x="457200" y="1005840"/>
            <a:ext cx="178308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Frontend</a:t>
            </a:r>
            <a:endParaRPr lang="en-US" sz="1300" dirty="0"/>
          </a:p>
        </p:txBody>
      </p:sp>
      <p:sp>
        <p:nvSpPr>
          <p:cNvPr id="6" name="Text 4"/>
          <p:cNvSpPr/>
          <p:nvPr/>
        </p:nvSpPr>
        <p:spPr>
          <a:xfrm>
            <a:off x="502920" y="160020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React + Tailwind CSS</a:t>
            </a:r>
            <a:endParaRPr lang="en-US" sz="1100" dirty="0"/>
          </a:p>
        </p:txBody>
      </p:sp>
      <p:sp>
        <p:nvSpPr>
          <p:cNvPr id="7" name="Text 5"/>
          <p:cNvSpPr/>
          <p:nvPr/>
        </p:nvSpPr>
        <p:spPr>
          <a:xfrm>
            <a:off x="502920" y="224028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Mapbox GL (geo map)</a:t>
            </a:r>
            <a:endParaRPr lang="en-US" sz="1100" dirty="0"/>
          </a:p>
        </p:txBody>
      </p:sp>
      <p:sp>
        <p:nvSpPr>
          <p:cNvPr id="8" name="Text 6"/>
          <p:cNvSpPr/>
          <p:nvPr/>
        </p:nvSpPr>
        <p:spPr>
          <a:xfrm>
            <a:off x="502920" y="288036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Recharts (data viz)</a:t>
            </a:r>
            <a:endParaRPr lang="en-US" sz="1100" dirty="0"/>
          </a:p>
        </p:txBody>
      </p:sp>
      <p:sp>
        <p:nvSpPr>
          <p:cNvPr id="9" name="Text 7"/>
          <p:cNvSpPr/>
          <p:nvPr/>
        </p:nvSpPr>
        <p:spPr>
          <a:xfrm>
            <a:off x="502920" y="352044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PWA-ready, dark mode</a:t>
            </a:r>
            <a:endParaRPr lang="en-US" sz="1100" dirty="0"/>
          </a:p>
        </p:txBody>
      </p:sp>
      <p:sp>
        <p:nvSpPr>
          <p:cNvPr id="10" name="Shape 8"/>
          <p:cNvSpPr/>
          <p:nvPr/>
        </p:nvSpPr>
        <p:spPr>
          <a:xfrm>
            <a:off x="2514600" y="914400"/>
            <a:ext cx="1965960" cy="3931920"/>
          </a:xfrm>
          <a:prstGeom prst="roundRect">
            <a:avLst>
              <a:gd name="adj" fmla="val 5581"/>
            </a:avLst>
          </a:prstGeom>
          <a:solidFill>
            <a:srgbClr val="12233D"/>
          </a:solidFill>
          <a:ln/>
          <a:effectLst>
            <a:outerShdw sx="100000" sy="100000" kx="0" ky="0" algn="bl" rotWithShape="0" blurRad="127000" dist="38100" dir="2700000">
              <a:srgbClr val="000000">
                <a:alpha val="18000"/>
              </a:srgbClr>
            </a:outerShdw>
          </a:effectLst>
        </p:spPr>
      </p:sp>
      <p:sp>
        <p:nvSpPr>
          <p:cNvPr id="11" name="Shape 9"/>
          <p:cNvSpPr/>
          <p:nvPr/>
        </p:nvSpPr>
        <p:spPr>
          <a:xfrm>
            <a:off x="2606040" y="1005840"/>
            <a:ext cx="1783080" cy="457200"/>
          </a:xfrm>
          <a:prstGeom prst="roundRect">
            <a:avLst>
              <a:gd name="adj" fmla="val 16000"/>
            </a:avLst>
          </a:prstGeom>
          <a:solidFill>
            <a:srgbClr val="F39C12"/>
          </a:solidFill>
          <a:ln/>
        </p:spPr>
      </p:sp>
      <p:sp>
        <p:nvSpPr>
          <p:cNvPr id="12" name="Text 10"/>
          <p:cNvSpPr/>
          <p:nvPr/>
        </p:nvSpPr>
        <p:spPr>
          <a:xfrm>
            <a:off x="2606040" y="1005840"/>
            <a:ext cx="178308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Backend</a:t>
            </a:r>
            <a:endParaRPr lang="en-US" sz="1300" dirty="0"/>
          </a:p>
        </p:txBody>
      </p:sp>
      <p:sp>
        <p:nvSpPr>
          <p:cNvPr id="13" name="Text 11"/>
          <p:cNvSpPr/>
          <p:nvPr/>
        </p:nvSpPr>
        <p:spPr>
          <a:xfrm>
            <a:off x="2651760" y="160020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Python FastAPI</a:t>
            </a:r>
            <a:endParaRPr lang="en-US" sz="1100" dirty="0"/>
          </a:p>
        </p:txBody>
      </p:sp>
      <p:sp>
        <p:nvSpPr>
          <p:cNvPr id="14" name="Text 12"/>
          <p:cNvSpPr/>
          <p:nvPr/>
        </p:nvSpPr>
        <p:spPr>
          <a:xfrm>
            <a:off x="2651760" y="224028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LangGraph agents</a:t>
            </a:r>
            <a:endParaRPr lang="en-US" sz="1100" dirty="0"/>
          </a:p>
        </p:txBody>
      </p:sp>
      <p:sp>
        <p:nvSpPr>
          <p:cNvPr id="15" name="Text 13"/>
          <p:cNvSpPr/>
          <p:nvPr/>
        </p:nvSpPr>
        <p:spPr>
          <a:xfrm>
            <a:off x="2651760" y="288036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REST API (8 endpoints)</a:t>
            </a:r>
            <a:endParaRPr lang="en-US" sz="1100" dirty="0"/>
          </a:p>
        </p:txBody>
      </p:sp>
      <p:sp>
        <p:nvSpPr>
          <p:cNvPr id="16" name="Text 14"/>
          <p:cNvSpPr/>
          <p:nvPr/>
        </p:nvSpPr>
        <p:spPr>
          <a:xfrm>
            <a:off x="2651760" y="352044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Docker containerised</a:t>
            </a:r>
            <a:endParaRPr lang="en-US" sz="1100" dirty="0"/>
          </a:p>
        </p:txBody>
      </p:sp>
      <p:sp>
        <p:nvSpPr>
          <p:cNvPr id="17" name="Shape 15"/>
          <p:cNvSpPr/>
          <p:nvPr/>
        </p:nvSpPr>
        <p:spPr>
          <a:xfrm>
            <a:off x="4663440" y="914400"/>
            <a:ext cx="1965960" cy="3931920"/>
          </a:xfrm>
          <a:prstGeom prst="roundRect">
            <a:avLst>
              <a:gd name="adj" fmla="val 5581"/>
            </a:avLst>
          </a:prstGeom>
          <a:solidFill>
            <a:srgbClr val="12233D"/>
          </a:solidFill>
          <a:ln/>
          <a:effectLst>
            <a:outerShdw sx="100000" sy="100000" kx="0" ky="0" algn="bl" rotWithShape="0" blurRad="127000" dist="38100" dir="2700000">
              <a:srgbClr val="000000">
                <a:alpha val="18000"/>
              </a:srgbClr>
            </a:outerShdw>
          </a:effectLst>
        </p:spPr>
      </p:sp>
      <p:sp>
        <p:nvSpPr>
          <p:cNvPr id="18" name="Shape 16"/>
          <p:cNvSpPr/>
          <p:nvPr/>
        </p:nvSpPr>
        <p:spPr>
          <a:xfrm>
            <a:off x="4754880" y="1005840"/>
            <a:ext cx="1783080" cy="457200"/>
          </a:xfrm>
          <a:prstGeom prst="roundRect">
            <a:avLst>
              <a:gd name="adj" fmla="val 16000"/>
            </a:avLst>
          </a:prstGeom>
          <a:solidFill>
            <a:srgbClr val="3B82F6"/>
          </a:solidFill>
          <a:ln/>
        </p:spPr>
      </p:sp>
      <p:sp>
        <p:nvSpPr>
          <p:cNvPr id="19" name="Text 17"/>
          <p:cNvSpPr/>
          <p:nvPr/>
        </p:nvSpPr>
        <p:spPr>
          <a:xfrm>
            <a:off x="4754880" y="1005840"/>
            <a:ext cx="178308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AI / ML</a:t>
            </a:r>
            <a:endParaRPr lang="en-US" sz="1300" dirty="0"/>
          </a:p>
        </p:txBody>
      </p:sp>
      <p:sp>
        <p:nvSpPr>
          <p:cNvPr id="20" name="Text 18"/>
          <p:cNvSpPr/>
          <p:nvPr/>
        </p:nvSpPr>
        <p:spPr>
          <a:xfrm>
            <a:off x="4800600" y="160020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Claude API (LLM)</a:t>
            </a:r>
            <a:endParaRPr lang="en-US" sz="1100" dirty="0"/>
          </a:p>
        </p:txBody>
      </p:sp>
      <p:sp>
        <p:nvSpPr>
          <p:cNvPr id="21" name="Text 19"/>
          <p:cNvSpPr/>
          <p:nvPr/>
        </p:nvSpPr>
        <p:spPr>
          <a:xfrm>
            <a:off x="4800600" y="224028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YOLOv8 (CV currency)</a:t>
            </a:r>
            <a:endParaRPr lang="en-US" sz="1100" dirty="0"/>
          </a:p>
        </p:txBody>
      </p:sp>
      <p:sp>
        <p:nvSpPr>
          <p:cNvPr id="22" name="Text 20"/>
          <p:cNvSpPr/>
          <p:nvPr/>
        </p:nvSpPr>
        <p:spPr>
          <a:xfrm>
            <a:off x="4800600" y="288036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PyTorch Geometric (GNN)</a:t>
            </a:r>
            <a:endParaRPr lang="en-US" sz="1100" dirty="0"/>
          </a:p>
        </p:txBody>
      </p:sp>
      <p:sp>
        <p:nvSpPr>
          <p:cNvPr id="23" name="Text 21"/>
          <p:cNvSpPr/>
          <p:nvPr/>
        </p:nvSpPr>
        <p:spPr>
          <a:xfrm>
            <a:off x="4800600" y="352044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Whisper (voice AI)</a:t>
            </a:r>
            <a:endParaRPr lang="en-US" sz="1100" dirty="0"/>
          </a:p>
        </p:txBody>
      </p:sp>
      <p:sp>
        <p:nvSpPr>
          <p:cNvPr id="24" name="Shape 22"/>
          <p:cNvSpPr/>
          <p:nvPr/>
        </p:nvSpPr>
        <p:spPr>
          <a:xfrm>
            <a:off x="6812280" y="914400"/>
            <a:ext cx="1965960" cy="3931920"/>
          </a:xfrm>
          <a:prstGeom prst="roundRect">
            <a:avLst>
              <a:gd name="adj" fmla="val 5581"/>
            </a:avLst>
          </a:prstGeom>
          <a:solidFill>
            <a:srgbClr val="12233D"/>
          </a:solidFill>
          <a:ln/>
          <a:effectLst>
            <a:outerShdw sx="100000" sy="100000" kx="0" ky="0" algn="bl" rotWithShape="0" blurRad="127000" dist="38100" dir="2700000">
              <a:srgbClr val="000000">
                <a:alpha val="18000"/>
              </a:srgbClr>
            </a:outerShdw>
          </a:effectLst>
        </p:spPr>
      </p:sp>
      <p:sp>
        <p:nvSpPr>
          <p:cNvPr id="25" name="Shape 23"/>
          <p:cNvSpPr/>
          <p:nvPr/>
        </p:nvSpPr>
        <p:spPr>
          <a:xfrm>
            <a:off x="6903720" y="1005840"/>
            <a:ext cx="1783080" cy="457200"/>
          </a:xfrm>
          <a:prstGeom prst="roundRect">
            <a:avLst>
              <a:gd name="adj" fmla="val 16000"/>
            </a:avLst>
          </a:prstGeom>
          <a:solidFill>
            <a:srgbClr val="2ECC71"/>
          </a:solidFill>
          <a:ln/>
        </p:spPr>
      </p:sp>
      <p:sp>
        <p:nvSpPr>
          <p:cNvPr id="26" name="Text 24"/>
          <p:cNvSpPr/>
          <p:nvPr/>
        </p:nvSpPr>
        <p:spPr>
          <a:xfrm>
            <a:off x="6903720" y="1005840"/>
            <a:ext cx="178308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Data / Infra</a:t>
            </a:r>
            <a:endParaRPr lang="en-US" sz="1300" dirty="0"/>
          </a:p>
        </p:txBody>
      </p:sp>
      <p:sp>
        <p:nvSpPr>
          <p:cNvPr id="27" name="Text 25"/>
          <p:cNvSpPr/>
          <p:nvPr/>
        </p:nvSpPr>
        <p:spPr>
          <a:xfrm>
            <a:off x="6949440" y="160020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Neo4j (fraud graphs)</a:t>
            </a:r>
            <a:endParaRPr lang="en-US" sz="1100" dirty="0"/>
          </a:p>
        </p:txBody>
      </p:sp>
      <p:sp>
        <p:nvSpPr>
          <p:cNvPr id="28" name="Text 26"/>
          <p:cNvSpPr/>
          <p:nvPr/>
        </p:nvSpPr>
        <p:spPr>
          <a:xfrm>
            <a:off x="6949440" y="224028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Pinecone (vector DB)</a:t>
            </a:r>
            <a:endParaRPr lang="en-US" sz="1100" dirty="0"/>
          </a:p>
        </p:txBody>
      </p:sp>
      <p:sp>
        <p:nvSpPr>
          <p:cNvPr id="29" name="Text 27"/>
          <p:cNvSpPr/>
          <p:nvPr/>
        </p:nvSpPr>
        <p:spPr>
          <a:xfrm>
            <a:off x="6949440" y="288036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PostgreSQL + PostGIS</a:t>
            </a:r>
            <a:endParaRPr lang="en-US" sz="1100" dirty="0"/>
          </a:p>
        </p:txBody>
      </p:sp>
      <p:sp>
        <p:nvSpPr>
          <p:cNvPr id="30" name="Text 28"/>
          <p:cNvSpPr/>
          <p:nvPr/>
        </p:nvSpPr>
        <p:spPr>
          <a:xfrm>
            <a:off x="6949440" y="3520440"/>
            <a:ext cx="1737360" cy="5029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  Apache Kafka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Impact &amp; Business Case</a:t>
            </a:r>
            <a:endParaRPr lang="en-US" sz="3600" dirty="0"/>
          </a:p>
        </p:txBody>
      </p:sp>
      <p:graphicFrame>
        <p:nvGraphicFramePr>
          <p:cNvPr id="3" name="Chart 0" descr=""/>
          <p:cNvGraphicFramePr/>
          <p:nvPr/>
        </p:nvGraphicFramePr>
        <p:xfrm>
          <a:off x="365760" y="914400"/>
          <a:ext cx="5029200" cy="29260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669280" y="1005840"/>
            <a:ext cx="3108960" cy="868680"/>
          </a:xfrm>
          <a:prstGeom prst="roundRect">
            <a:avLst>
              <a:gd name="adj" fmla="val 10526"/>
            </a:avLst>
          </a:prstGeom>
          <a:solidFill>
            <a:srgbClr val="12233D"/>
          </a:solidFill>
          <a:ln/>
          <a:effectLst>
            <a:outerShdw sx="100000" sy="100000" kx="0" ky="0" algn="bl" rotWithShape="0" blurRad="127000" dist="38100" dir="2700000">
              <a:srgbClr val="000000">
                <a:alpha val="18000"/>
              </a:srgbClr>
            </a:outerShdw>
          </a:effectLst>
        </p:spPr>
      </p:sp>
      <p:sp>
        <p:nvSpPr>
          <p:cNvPr id="5" name="Text 2"/>
          <p:cNvSpPr/>
          <p:nvPr/>
        </p:nvSpPr>
        <p:spPr>
          <a:xfrm>
            <a:off x="5669280" y="1033272"/>
            <a:ext cx="3108960" cy="457200"/>
          </a:xfrm>
          <a:prstGeom prst="rect">
            <a:avLst/>
          </a:prstGeom>
          <a:noFill/>
          <a:ln/>
        </p:spPr>
        <p:txBody>
          <a:bodyPr wrap="square" rtlCol="0" anchor="ctr"/>
          <a:lstStyle/>
          <a:p>
            <a:pPr algn="ctr" indent="0" marL="0">
              <a:buNone/>
            </a:pPr>
            <a:r>
              <a:rPr lang="en-US" sz="2200" b="1" dirty="0">
                <a:solidFill>
                  <a:srgbClr val="E63946"/>
                </a:solidFill>
                <a:latin typeface="Cambria" pitchFamily="34" charset="0"/>
                <a:ea typeface="Cambria" pitchFamily="34" charset="-122"/>
                <a:cs typeface="Cambria" pitchFamily="34" charset="-120"/>
              </a:rPr>
              <a:t>₹3,152Cr</a:t>
            </a:r>
            <a:endParaRPr lang="en-US" sz="2200" dirty="0"/>
          </a:p>
        </p:txBody>
      </p:sp>
      <p:sp>
        <p:nvSpPr>
          <p:cNvPr id="6" name="Text 3"/>
          <p:cNvSpPr/>
          <p:nvPr/>
        </p:nvSpPr>
        <p:spPr>
          <a:xfrm>
            <a:off x="5669280" y="1463040"/>
            <a:ext cx="3108960" cy="384048"/>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Total addressable</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fraud loss annually</a:t>
            </a:r>
            <a:endParaRPr lang="en-US" sz="1100" dirty="0"/>
          </a:p>
        </p:txBody>
      </p:sp>
      <p:sp>
        <p:nvSpPr>
          <p:cNvPr id="7" name="Shape 4"/>
          <p:cNvSpPr/>
          <p:nvPr/>
        </p:nvSpPr>
        <p:spPr>
          <a:xfrm>
            <a:off x="5669280" y="2011680"/>
            <a:ext cx="3108960" cy="868680"/>
          </a:xfrm>
          <a:prstGeom prst="roundRect">
            <a:avLst>
              <a:gd name="adj" fmla="val 10526"/>
            </a:avLst>
          </a:prstGeom>
          <a:solidFill>
            <a:srgbClr val="12233D"/>
          </a:solidFill>
          <a:ln/>
          <a:effectLst>
            <a:outerShdw sx="100000" sy="100000" kx="0" ky="0" algn="bl" rotWithShape="0" blurRad="127000" dist="38100" dir="2700000">
              <a:srgbClr val="000000">
                <a:alpha val="18000"/>
              </a:srgbClr>
            </a:outerShdw>
          </a:effectLst>
        </p:spPr>
      </p:sp>
      <p:sp>
        <p:nvSpPr>
          <p:cNvPr id="8" name="Text 5"/>
          <p:cNvSpPr/>
          <p:nvPr/>
        </p:nvSpPr>
        <p:spPr>
          <a:xfrm>
            <a:off x="5669280" y="2039112"/>
            <a:ext cx="3108960" cy="457200"/>
          </a:xfrm>
          <a:prstGeom prst="rect">
            <a:avLst/>
          </a:prstGeom>
          <a:noFill/>
          <a:ln/>
        </p:spPr>
        <p:txBody>
          <a:bodyPr wrap="square" rtlCol="0" anchor="ctr"/>
          <a:lstStyle/>
          <a:p>
            <a:pPr algn="ctr" indent="0" marL="0">
              <a:buNone/>
            </a:pPr>
            <a:r>
              <a:rPr lang="en-US" sz="2200" b="1" dirty="0">
                <a:solidFill>
                  <a:srgbClr val="E63946"/>
                </a:solidFill>
                <a:latin typeface="Cambria" pitchFamily="34" charset="0"/>
                <a:ea typeface="Cambria" pitchFamily="34" charset="-122"/>
                <a:cs typeface="Cambria" pitchFamily="34" charset="-120"/>
              </a:rPr>
              <a:t>~8min</a:t>
            </a:r>
            <a:endParaRPr lang="en-US" sz="2200" dirty="0"/>
          </a:p>
        </p:txBody>
      </p:sp>
      <p:sp>
        <p:nvSpPr>
          <p:cNvPr id="9" name="Text 6"/>
          <p:cNvSpPr/>
          <p:nvPr/>
        </p:nvSpPr>
        <p:spPr>
          <a:xfrm>
            <a:off x="5669280" y="2468880"/>
            <a:ext cx="3108960" cy="384048"/>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Response time</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reduced from hours</a:t>
            </a:r>
            <a:endParaRPr lang="en-US" sz="1100" dirty="0"/>
          </a:p>
        </p:txBody>
      </p:sp>
      <p:sp>
        <p:nvSpPr>
          <p:cNvPr id="10" name="Shape 7"/>
          <p:cNvSpPr/>
          <p:nvPr/>
        </p:nvSpPr>
        <p:spPr>
          <a:xfrm>
            <a:off x="5669280" y="3017520"/>
            <a:ext cx="3108960" cy="868680"/>
          </a:xfrm>
          <a:prstGeom prst="roundRect">
            <a:avLst>
              <a:gd name="adj" fmla="val 10526"/>
            </a:avLst>
          </a:prstGeom>
          <a:solidFill>
            <a:srgbClr val="12233D"/>
          </a:solidFill>
          <a:ln/>
          <a:effectLst>
            <a:outerShdw sx="100000" sy="100000" kx="0" ky="0" algn="bl" rotWithShape="0" blurRad="127000" dist="38100" dir="2700000">
              <a:srgbClr val="000000">
                <a:alpha val="18000"/>
              </a:srgbClr>
            </a:outerShdw>
          </a:effectLst>
        </p:spPr>
      </p:sp>
      <p:sp>
        <p:nvSpPr>
          <p:cNvPr id="11" name="Text 8"/>
          <p:cNvSpPr/>
          <p:nvPr/>
        </p:nvSpPr>
        <p:spPr>
          <a:xfrm>
            <a:off x="5669280" y="3044952"/>
            <a:ext cx="3108960" cy="457200"/>
          </a:xfrm>
          <a:prstGeom prst="rect">
            <a:avLst/>
          </a:prstGeom>
          <a:noFill/>
          <a:ln/>
        </p:spPr>
        <p:txBody>
          <a:bodyPr wrap="square" rtlCol="0" anchor="ctr"/>
          <a:lstStyle/>
          <a:p>
            <a:pPr algn="ctr" indent="0" marL="0">
              <a:buNone/>
            </a:pPr>
            <a:r>
              <a:rPr lang="en-US" sz="2200" b="1" dirty="0">
                <a:solidFill>
                  <a:srgbClr val="E63946"/>
                </a:solidFill>
                <a:latin typeface="Cambria" pitchFamily="34" charset="0"/>
                <a:ea typeface="Cambria" pitchFamily="34" charset="-122"/>
                <a:cs typeface="Cambria" pitchFamily="34" charset="-120"/>
              </a:rPr>
              <a:t>3 agencies</a:t>
            </a:r>
            <a:endParaRPr lang="en-US" sz="2200" dirty="0"/>
          </a:p>
        </p:txBody>
      </p:sp>
      <p:sp>
        <p:nvSpPr>
          <p:cNvPr id="12" name="Text 9"/>
          <p:cNvSpPr/>
          <p:nvPr/>
        </p:nvSpPr>
        <p:spPr>
          <a:xfrm>
            <a:off x="5669280" y="3474720"/>
            <a:ext cx="3108960" cy="384048"/>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MHA + RBI + Telecom</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in one platform</a:t>
            </a:r>
            <a:endParaRPr lang="en-US" sz="1100" dirty="0"/>
          </a:p>
        </p:txBody>
      </p:sp>
      <p:sp>
        <p:nvSpPr>
          <p:cNvPr id="13" name="Shape 10"/>
          <p:cNvSpPr/>
          <p:nvPr/>
        </p:nvSpPr>
        <p:spPr>
          <a:xfrm>
            <a:off x="5669280" y="4023360"/>
            <a:ext cx="3108960" cy="868680"/>
          </a:xfrm>
          <a:prstGeom prst="roundRect">
            <a:avLst>
              <a:gd name="adj" fmla="val 10526"/>
            </a:avLst>
          </a:prstGeom>
          <a:solidFill>
            <a:srgbClr val="12233D"/>
          </a:solidFill>
          <a:ln/>
          <a:effectLst>
            <a:outerShdw sx="100000" sy="100000" kx="0" ky="0" algn="bl" rotWithShape="0" blurRad="127000" dist="38100" dir="2700000">
              <a:srgbClr val="000000">
                <a:alpha val="18000"/>
              </a:srgbClr>
            </a:outerShdw>
          </a:effectLst>
        </p:spPr>
      </p:sp>
      <p:sp>
        <p:nvSpPr>
          <p:cNvPr id="14" name="Text 11"/>
          <p:cNvSpPr/>
          <p:nvPr/>
        </p:nvSpPr>
        <p:spPr>
          <a:xfrm>
            <a:off x="5669280" y="4050792"/>
            <a:ext cx="3108960" cy="457200"/>
          </a:xfrm>
          <a:prstGeom prst="rect">
            <a:avLst/>
          </a:prstGeom>
          <a:noFill/>
          <a:ln/>
        </p:spPr>
        <p:txBody>
          <a:bodyPr wrap="square" rtlCol="0" anchor="ctr"/>
          <a:lstStyle/>
          <a:p>
            <a:pPr algn="ctr" indent="0" marL="0">
              <a:buNone/>
            </a:pPr>
            <a:r>
              <a:rPr lang="en-US" sz="2200" b="1" dirty="0">
                <a:solidFill>
                  <a:srgbClr val="E63946"/>
                </a:solidFill>
                <a:latin typeface="Cambria" pitchFamily="34" charset="0"/>
                <a:ea typeface="Cambria" pitchFamily="34" charset="-122"/>
                <a:cs typeface="Cambria" pitchFamily="34" charset="-120"/>
              </a:rPr>
              <a:t>1 Billion</a:t>
            </a:r>
            <a:endParaRPr lang="en-US" sz="2200" dirty="0"/>
          </a:p>
        </p:txBody>
      </p:sp>
      <p:sp>
        <p:nvSpPr>
          <p:cNvPr id="15" name="Text 12"/>
          <p:cNvSpPr/>
          <p:nvPr/>
        </p:nvSpPr>
        <p:spPr>
          <a:xfrm>
            <a:off x="5669280" y="4480560"/>
            <a:ext cx="3108960" cy="384048"/>
          </a:xfrm>
          <a:prstGeom prst="rect">
            <a:avLst/>
          </a:prstGeom>
          <a:noFill/>
          <a:ln/>
        </p:spPr>
        <p:txBody>
          <a:bodyPr wrap="square" rtlCol="0" anchor="ctr"/>
          <a:lstStyle/>
          <a:p>
            <a:pPr algn="ctr" indent="0" marL="0">
              <a:buNone/>
            </a:pPr>
            <a:r>
              <a:rPr lang="en-US" sz="1100" dirty="0">
                <a:solidFill>
                  <a:srgbClr val="E8EDF4"/>
                </a:solidFill>
                <a:latin typeface="Calibri" pitchFamily="34" charset="0"/>
                <a:ea typeface="Calibri" pitchFamily="34" charset="-122"/>
                <a:cs typeface="Calibri" pitchFamily="34" charset="-120"/>
              </a:rPr>
              <a:t>Citizens covered</a:t>
            </a:r>
            <a:endParaRPr lang="en-US" sz="1100" dirty="0"/>
          </a:p>
          <a:p>
            <a:pPr algn="ctr" indent="0" marL="0">
              <a:buNone/>
            </a:pPr>
            <a:r>
              <a:rPr lang="en-US" sz="1100" dirty="0">
                <a:solidFill>
                  <a:srgbClr val="E8EDF4"/>
                </a:solidFill>
                <a:latin typeface="Calibri" pitchFamily="34" charset="0"/>
                <a:ea typeface="Calibri" pitchFamily="34" charset="-122"/>
                <a:cs typeface="Calibri" pitchFamily="34" charset="-120"/>
              </a:rPr>
              <a:t>across India</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Scalability &amp; Deployment</a:t>
            </a:r>
            <a:endParaRPr lang="en-US" sz="3600" dirty="0"/>
          </a:p>
        </p:txBody>
      </p:sp>
      <p:sp>
        <p:nvSpPr>
          <p:cNvPr id="3" name="Shape 1"/>
          <p:cNvSpPr/>
          <p:nvPr/>
        </p:nvSpPr>
        <p:spPr>
          <a:xfrm>
            <a:off x="365760" y="1097280"/>
            <a:ext cx="2651760" cy="3566160"/>
          </a:xfrm>
          <a:prstGeom prst="roundRect">
            <a:avLst>
              <a:gd name="adj" fmla="val 4138"/>
            </a:avLst>
          </a:prstGeom>
          <a:solidFill>
            <a:srgbClr val="12233D"/>
          </a:solidFill>
          <a:ln/>
          <a:effectLst>
            <a:outerShdw sx="100000" sy="100000" kx="0" ky="0" algn="bl" rotWithShape="0" blurRad="127000" dist="38100" dir="2700000">
              <a:srgbClr val="000000">
                <a:alpha val="18000"/>
              </a:srgbClr>
            </a:outerShdw>
          </a:effectLst>
        </p:spPr>
      </p:sp>
      <p:sp>
        <p:nvSpPr>
          <p:cNvPr id="4" name="Shape 2"/>
          <p:cNvSpPr/>
          <p:nvPr/>
        </p:nvSpPr>
        <p:spPr>
          <a:xfrm>
            <a:off x="457200" y="1188720"/>
            <a:ext cx="2468880" cy="685800"/>
          </a:xfrm>
          <a:prstGeom prst="roundRect">
            <a:avLst>
              <a:gd name="adj" fmla="val 10667"/>
            </a:avLst>
          </a:prstGeom>
          <a:solidFill>
            <a:srgbClr val="E63946"/>
          </a:solidFill>
          <a:ln/>
        </p:spPr>
      </p:sp>
      <p:sp>
        <p:nvSpPr>
          <p:cNvPr id="5" name="Text 3"/>
          <p:cNvSpPr/>
          <p:nvPr/>
        </p:nvSpPr>
        <p:spPr>
          <a:xfrm>
            <a:off x="457200" y="1188720"/>
            <a:ext cx="246888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3 months</a:t>
            </a:r>
            <a:endParaRPr lang="en-US" sz="1100" dirty="0"/>
          </a:p>
        </p:txBody>
      </p:sp>
      <p:sp>
        <p:nvSpPr>
          <p:cNvPr id="6" name="Text 4"/>
          <p:cNvSpPr/>
          <p:nvPr/>
        </p:nvSpPr>
        <p:spPr>
          <a:xfrm>
            <a:off x="457200" y="2011680"/>
            <a:ext cx="246888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Pilot</a:t>
            </a:r>
            <a:endParaRPr lang="en-US" sz="1800" dirty="0"/>
          </a:p>
        </p:txBody>
      </p:sp>
      <p:sp>
        <p:nvSpPr>
          <p:cNvPr id="7" name="Text 5"/>
          <p:cNvSpPr/>
          <p:nvPr/>
        </p:nvSpPr>
        <p:spPr>
          <a:xfrm>
            <a:off x="457200" y="2514600"/>
            <a:ext cx="2468880" cy="1920240"/>
          </a:xfrm>
          <a:prstGeom prst="rect">
            <a:avLst/>
          </a:prstGeom>
          <a:noFill/>
          <a:ln/>
        </p:spPr>
        <p:txBody>
          <a:bodyPr wrap="square" rtlCol="0" anchor="ctr"/>
          <a:lstStyle/>
          <a:p>
            <a:pPr algn="ctr" indent="0" marL="0">
              <a:buNone/>
            </a:pPr>
            <a:r>
              <a:rPr lang="en-US" sz="1200" dirty="0">
                <a:solidFill>
                  <a:srgbClr val="E8EDF4"/>
                </a:solidFill>
                <a:latin typeface="Calibri" pitchFamily="34" charset="0"/>
                <a:ea typeface="Calibri" pitchFamily="34" charset="-122"/>
                <a:cs typeface="Calibri" pitchFamily="34" charset="-120"/>
              </a:rPr>
              <a:t>3 cities — Delhi, Mumbai, Kolkata</a:t>
            </a:r>
            <a:endParaRPr lang="en-US" sz="1200" dirty="0"/>
          </a:p>
          <a:p>
            <a:pPr algn="ctr" indent="0" marL="0">
              <a:buNone/>
            </a:pPr>
            <a:r>
              <a:rPr lang="en-US" sz="1200" dirty="0">
                <a:solidFill>
                  <a:srgbClr val="E8EDF4"/>
                </a:solidFill>
                <a:latin typeface="Calibri" pitchFamily="34" charset="0"/>
                <a:ea typeface="Calibri" pitchFamily="34" charset="-122"/>
                <a:cs typeface="Calibri" pitchFamily="34" charset="-120"/>
              </a:rPr>
              <a:t>Partner with 2 banks + 1 telecom</a:t>
            </a:r>
            <a:endParaRPr lang="en-US" sz="1200" dirty="0"/>
          </a:p>
          <a:p>
            <a:pPr algn="ctr" indent="0" marL="0">
              <a:buNone/>
            </a:pPr>
            <a:r>
              <a:rPr lang="en-US" sz="1200" dirty="0">
                <a:solidFill>
                  <a:srgbClr val="E8EDF4"/>
                </a:solidFill>
                <a:latin typeface="Calibri" pitchFamily="34" charset="0"/>
                <a:ea typeface="Calibri" pitchFamily="34" charset="-122"/>
                <a:cs typeface="Calibri" pitchFamily="34" charset="-120"/>
              </a:rPr>
              <a:t>10,000 citizen beta users</a:t>
            </a:r>
            <a:endParaRPr lang="en-US" sz="1200" dirty="0"/>
          </a:p>
        </p:txBody>
      </p:sp>
      <p:sp>
        <p:nvSpPr>
          <p:cNvPr id="8" name="Text 6"/>
          <p:cNvSpPr/>
          <p:nvPr/>
        </p:nvSpPr>
        <p:spPr>
          <a:xfrm>
            <a:off x="3108960" y="2468880"/>
            <a:ext cx="274320" cy="457200"/>
          </a:xfrm>
          <a:prstGeom prst="rect">
            <a:avLst/>
          </a:prstGeom>
          <a:noFill/>
          <a:ln/>
        </p:spPr>
        <p:txBody>
          <a:bodyPr wrap="square"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291840" y="1097280"/>
            <a:ext cx="2651760" cy="3566160"/>
          </a:xfrm>
          <a:prstGeom prst="roundRect">
            <a:avLst>
              <a:gd name="adj" fmla="val 4138"/>
            </a:avLst>
          </a:prstGeom>
          <a:solidFill>
            <a:srgbClr val="12233D"/>
          </a:solidFill>
          <a:ln/>
          <a:effectLst>
            <a:outerShdw sx="100000" sy="100000" kx="0" ky="0" algn="bl" rotWithShape="0" blurRad="127000" dist="38100" dir="2700000">
              <a:srgbClr val="000000">
                <a:alpha val="18000"/>
              </a:srgbClr>
            </a:outerShdw>
          </a:effectLst>
        </p:spPr>
      </p:sp>
      <p:sp>
        <p:nvSpPr>
          <p:cNvPr id="10" name="Shape 8"/>
          <p:cNvSpPr/>
          <p:nvPr/>
        </p:nvSpPr>
        <p:spPr>
          <a:xfrm>
            <a:off x="3383280" y="1188720"/>
            <a:ext cx="2468880" cy="685800"/>
          </a:xfrm>
          <a:prstGeom prst="roundRect">
            <a:avLst>
              <a:gd name="adj" fmla="val 10667"/>
            </a:avLst>
          </a:prstGeom>
          <a:solidFill>
            <a:srgbClr val="F39C12"/>
          </a:solidFill>
          <a:ln/>
        </p:spPr>
      </p:sp>
      <p:sp>
        <p:nvSpPr>
          <p:cNvPr id="11" name="Text 9"/>
          <p:cNvSpPr/>
          <p:nvPr/>
        </p:nvSpPr>
        <p:spPr>
          <a:xfrm>
            <a:off x="3383280" y="1188720"/>
            <a:ext cx="246888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6 months</a:t>
            </a:r>
            <a:endParaRPr lang="en-US" sz="1100" dirty="0"/>
          </a:p>
        </p:txBody>
      </p:sp>
      <p:sp>
        <p:nvSpPr>
          <p:cNvPr id="12" name="Text 10"/>
          <p:cNvSpPr/>
          <p:nvPr/>
        </p:nvSpPr>
        <p:spPr>
          <a:xfrm>
            <a:off x="3383280" y="2011680"/>
            <a:ext cx="246888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Scale</a:t>
            </a:r>
            <a:endParaRPr lang="en-US" sz="1800" dirty="0"/>
          </a:p>
        </p:txBody>
      </p:sp>
      <p:sp>
        <p:nvSpPr>
          <p:cNvPr id="13" name="Text 11"/>
          <p:cNvSpPr/>
          <p:nvPr/>
        </p:nvSpPr>
        <p:spPr>
          <a:xfrm>
            <a:off x="3383280" y="2514600"/>
            <a:ext cx="2468880" cy="1920240"/>
          </a:xfrm>
          <a:prstGeom prst="rect">
            <a:avLst/>
          </a:prstGeom>
          <a:noFill/>
          <a:ln/>
        </p:spPr>
        <p:txBody>
          <a:bodyPr wrap="square" rtlCol="0" anchor="ctr"/>
          <a:lstStyle/>
          <a:p>
            <a:pPr algn="ctr" indent="0" marL="0">
              <a:buNone/>
            </a:pPr>
            <a:r>
              <a:rPr lang="en-US" sz="1200" dirty="0">
                <a:solidFill>
                  <a:srgbClr val="E8EDF4"/>
                </a:solidFill>
                <a:latin typeface="Calibri" pitchFamily="34" charset="0"/>
                <a:ea typeface="Calibri" pitchFamily="34" charset="-122"/>
                <a:cs typeface="Calibri" pitchFamily="34" charset="-120"/>
              </a:rPr>
              <a:t>All Tier 1 cities (8)</a:t>
            </a:r>
            <a:endParaRPr lang="en-US" sz="1200" dirty="0"/>
          </a:p>
          <a:p>
            <a:pPr algn="ctr" indent="0" marL="0">
              <a:buNone/>
            </a:pPr>
            <a:r>
              <a:rPr lang="en-US" sz="1200" dirty="0">
                <a:solidFill>
                  <a:srgbClr val="E8EDF4"/>
                </a:solidFill>
                <a:latin typeface="Calibri" pitchFamily="34" charset="0"/>
                <a:ea typeface="Calibri" pitchFamily="34" charset="-122"/>
                <a:cs typeface="Calibri" pitchFamily="34" charset="-120"/>
              </a:rPr>
              <a:t>State police dashboard integration</a:t>
            </a:r>
            <a:endParaRPr lang="en-US" sz="1200" dirty="0"/>
          </a:p>
          <a:p>
            <a:pPr algn="ctr" indent="0" marL="0">
              <a:buNone/>
            </a:pPr>
            <a:r>
              <a:rPr lang="en-US" sz="1200" dirty="0">
                <a:solidFill>
                  <a:srgbClr val="E8EDF4"/>
                </a:solidFill>
                <a:latin typeface="Calibri" pitchFamily="34" charset="0"/>
                <a:ea typeface="Calibri" pitchFamily="34" charset="-122"/>
                <a:cs typeface="Calibri" pitchFamily="34" charset="-120"/>
              </a:rPr>
              <a:t>100,000 active users</a:t>
            </a:r>
            <a:endParaRPr lang="en-US" sz="1200" dirty="0"/>
          </a:p>
        </p:txBody>
      </p:sp>
      <p:sp>
        <p:nvSpPr>
          <p:cNvPr id="14" name="Text 12"/>
          <p:cNvSpPr/>
          <p:nvPr/>
        </p:nvSpPr>
        <p:spPr>
          <a:xfrm>
            <a:off x="6035040" y="2468880"/>
            <a:ext cx="274320" cy="457200"/>
          </a:xfrm>
          <a:prstGeom prst="rect">
            <a:avLst/>
          </a:prstGeom>
          <a:noFill/>
          <a:ln/>
        </p:spPr>
        <p:txBody>
          <a:bodyPr wrap="square"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6217920" y="1097280"/>
            <a:ext cx="2651760" cy="3566160"/>
          </a:xfrm>
          <a:prstGeom prst="roundRect">
            <a:avLst>
              <a:gd name="adj" fmla="val 4138"/>
            </a:avLst>
          </a:prstGeom>
          <a:solidFill>
            <a:srgbClr val="12233D"/>
          </a:solidFill>
          <a:ln/>
          <a:effectLst>
            <a:outerShdw sx="100000" sy="100000" kx="0" ky="0" algn="bl" rotWithShape="0" blurRad="127000" dist="38100" dir="2700000">
              <a:srgbClr val="000000">
                <a:alpha val="18000"/>
              </a:srgbClr>
            </a:outerShdw>
          </a:effectLst>
        </p:spPr>
      </p:sp>
      <p:sp>
        <p:nvSpPr>
          <p:cNvPr id="16" name="Shape 14"/>
          <p:cNvSpPr/>
          <p:nvPr/>
        </p:nvSpPr>
        <p:spPr>
          <a:xfrm>
            <a:off x="6309360" y="1188720"/>
            <a:ext cx="2468880" cy="685800"/>
          </a:xfrm>
          <a:prstGeom prst="roundRect">
            <a:avLst>
              <a:gd name="adj" fmla="val 10667"/>
            </a:avLst>
          </a:prstGeom>
          <a:solidFill>
            <a:srgbClr val="2ECC71"/>
          </a:solidFill>
          <a:ln/>
        </p:spPr>
      </p:sp>
      <p:sp>
        <p:nvSpPr>
          <p:cNvPr id="17" name="Text 15"/>
          <p:cNvSpPr/>
          <p:nvPr/>
        </p:nvSpPr>
        <p:spPr>
          <a:xfrm>
            <a:off x="6309360" y="1188720"/>
            <a:ext cx="2468880" cy="6858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12 months</a:t>
            </a:r>
            <a:endParaRPr lang="en-US" sz="1100" dirty="0"/>
          </a:p>
        </p:txBody>
      </p:sp>
      <p:sp>
        <p:nvSpPr>
          <p:cNvPr id="18" name="Text 16"/>
          <p:cNvSpPr/>
          <p:nvPr/>
        </p:nvSpPr>
        <p:spPr>
          <a:xfrm>
            <a:off x="6309360" y="2011680"/>
            <a:ext cx="246888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National</a:t>
            </a:r>
            <a:endParaRPr lang="en-US" sz="1800" dirty="0"/>
          </a:p>
        </p:txBody>
      </p:sp>
      <p:sp>
        <p:nvSpPr>
          <p:cNvPr id="19" name="Text 17"/>
          <p:cNvSpPr/>
          <p:nvPr/>
        </p:nvSpPr>
        <p:spPr>
          <a:xfrm>
            <a:off x="6309360" y="2514600"/>
            <a:ext cx="2468880" cy="1920240"/>
          </a:xfrm>
          <a:prstGeom prst="rect">
            <a:avLst/>
          </a:prstGeom>
          <a:noFill/>
          <a:ln/>
        </p:spPr>
        <p:txBody>
          <a:bodyPr wrap="square" rtlCol="0" anchor="ctr"/>
          <a:lstStyle/>
          <a:p>
            <a:pPr algn="ctr" indent="0" marL="0">
              <a:buNone/>
            </a:pPr>
            <a:r>
              <a:rPr lang="en-US" sz="1200" dirty="0">
                <a:solidFill>
                  <a:srgbClr val="E8EDF4"/>
                </a:solidFill>
                <a:latin typeface="Calibri" pitchFamily="34" charset="0"/>
                <a:ea typeface="Calibri" pitchFamily="34" charset="-122"/>
                <a:cs typeface="Calibri" pitchFamily="34" charset="-120"/>
              </a:rPr>
              <a:t>Pan-India deployment</a:t>
            </a:r>
            <a:endParaRPr lang="en-US" sz="1200" dirty="0"/>
          </a:p>
          <a:p>
            <a:pPr algn="ctr" indent="0" marL="0">
              <a:buNone/>
            </a:pPr>
            <a:r>
              <a:rPr lang="en-US" sz="1200" dirty="0">
                <a:solidFill>
                  <a:srgbClr val="E8EDF4"/>
                </a:solidFill>
                <a:latin typeface="Calibri" pitchFamily="34" charset="0"/>
                <a:ea typeface="Calibri" pitchFamily="34" charset="-122"/>
                <a:cs typeface="Calibri" pitchFamily="34" charset="-120"/>
              </a:rPr>
              <a:t>MHA official integration</a:t>
            </a:r>
            <a:endParaRPr lang="en-US" sz="1200" dirty="0"/>
          </a:p>
          <a:p>
            <a:pPr algn="ctr" indent="0" marL="0">
              <a:buNone/>
            </a:pPr>
            <a:r>
              <a:rPr lang="en-US" sz="1200" dirty="0">
                <a:solidFill>
                  <a:srgbClr val="E8EDF4"/>
                </a:solidFill>
                <a:latin typeface="Calibri" pitchFamily="34" charset="0"/>
                <a:ea typeface="Calibri" pitchFamily="34" charset="-122"/>
                <a:cs typeface="Calibri" pitchFamily="34" charset="-120"/>
              </a:rPr>
              <a:t>1 crore+ citizens covered</a:t>
            </a:r>
            <a:endParaRPr lang="en-US" sz="1200" dirty="0"/>
          </a:p>
        </p:txBody>
      </p:sp>
      <p:sp>
        <p:nvSpPr>
          <p:cNvPr id="20" name="Text 18"/>
          <p:cNvSpPr/>
          <p:nvPr/>
        </p:nvSpPr>
        <p:spPr>
          <a:xfrm>
            <a:off x="365760" y="4709160"/>
            <a:ext cx="841248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Revenue model: SaaS licensing to state police &amp; banks · API fees per transaction · Government grant eligible (MeitY, NASSCOM FutureSkills)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How We Score on Judging Criteria</a:t>
            </a:r>
            <a:endParaRPr lang="en-US" sz="3400" dirty="0"/>
          </a:p>
        </p:txBody>
      </p:sp>
      <p:sp>
        <p:nvSpPr>
          <p:cNvPr id="3" name="Shape 1"/>
          <p:cNvSpPr/>
          <p:nvPr/>
        </p:nvSpPr>
        <p:spPr>
          <a:xfrm>
            <a:off x="365760" y="1005840"/>
            <a:ext cx="8412480" cy="658368"/>
          </a:xfrm>
          <a:prstGeom prst="roundRect">
            <a:avLst>
              <a:gd name="adj" fmla="val 13889"/>
            </a:avLst>
          </a:prstGeom>
          <a:solidFill>
            <a:srgbClr val="12233D"/>
          </a:solidFill>
          <a:ln/>
          <a:effectLst>
            <a:outerShdw sx="100000" sy="100000" kx="0" ky="0" algn="bl" rotWithShape="0" blurRad="127000" dist="38100" dir="2700000">
              <a:srgbClr val="000000">
                <a:alpha val="18000"/>
              </a:srgbClr>
            </a:outerShdw>
          </a:effectLst>
        </p:spPr>
      </p:sp>
      <p:sp>
        <p:nvSpPr>
          <p:cNvPr id="4" name="Text 2"/>
          <p:cNvSpPr/>
          <p:nvPr/>
        </p:nvSpPr>
        <p:spPr>
          <a:xfrm>
            <a:off x="548640" y="1060704"/>
            <a:ext cx="18288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Innovation</a:t>
            </a:r>
            <a:endParaRPr lang="en-US" sz="1300" dirty="0"/>
          </a:p>
        </p:txBody>
      </p:sp>
      <p:sp>
        <p:nvSpPr>
          <p:cNvPr id="5" name="Shape 3"/>
          <p:cNvSpPr/>
          <p:nvPr/>
        </p:nvSpPr>
        <p:spPr>
          <a:xfrm>
            <a:off x="2468880" y="1097280"/>
            <a:ext cx="502920" cy="320040"/>
          </a:xfrm>
          <a:prstGeom prst="roundRect">
            <a:avLst>
              <a:gd name="adj" fmla="val 20000"/>
            </a:avLst>
          </a:prstGeom>
          <a:solidFill>
            <a:srgbClr val="E63946"/>
          </a:solidFill>
          <a:ln/>
        </p:spPr>
      </p:sp>
      <p:sp>
        <p:nvSpPr>
          <p:cNvPr id="6" name="Text 4"/>
          <p:cNvSpPr/>
          <p:nvPr/>
        </p:nvSpPr>
        <p:spPr>
          <a:xfrm>
            <a:off x="2468880" y="1097280"/>
            <a:ext cx="50292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25%</a:t>
            </a:r>
            <a:endParaRPr lang="en-US" sz="1100" dirty="0"/>
          </a:p>
        </p:txBody>
      </p:sp>
      <p:sp>
        <p:nvSpPr>
          <p:cNvPr id="7" name="Shape 5"/>
          <p:cNvSpPr/>
          <p:nvPr/>
        </p:nvSpPr>
        <p:spPr>
          <a:xfrm>
            <a:off x="3108960" y="1207008"/>
            <a:ext cx="3200400" cy="164592"/>
          </a:xfrm>
          <a:prstGeom prst="rect">
            <a:avLst/>
          </a:prstGeom>
          <a:solidFill>
            <a:srgbClr val="1E3A5F"/>
          </a:solidFill>
          <a:ln w="12700">
            <a:solidFill>
              <a:srgbClr val="1E3A5F"/>
            </a:solidFill>
            <a:prstDash val="solid"/>
          </a:ln>
        </p:spPr>
      </p:sp>
      <p:sp>
        <p:nvSpPr>
          <p:cNvPr id="8" name="Shape 6"/>
          <p:cNvSpPr/>
          <p:nvPr/>
        </p:nvSpPr>
        <p:spPr>
          <a:xfrm>
            <a:off x="3108960" y="1207008"/>
            <a:ext cx="3040380" cy="164592"/>
          </a:xfrm>
          <a:prstGeom prst="rect">
            <a:avLst/>
          </a:prstGeom>
          <a:solidFill>
            <a:srgbClr val="2ECC71"/>
          </a:solidFill>
          <a:ln w="12700">
            <a:solidFill>
              <a:srgbClr val="2ECC71"/>
            </a:solidFill>
            <a:prstDash val="solid"/>
          </a:ln>
        </p:spPr>
      </p:sp>
      <p:sp>
        <p:nvSpPr>
          <p:cNvPr id="9" name="Text 7"/>
          <p:cNvSpPr/>
          <p:nvPr/>
        </p:nvSpPr>
        <p:spPr>
          <a:xfrm>
            <a:off x="6400800" y="1152144"/>
            <a:ext cx="548640" cy="274320"/>
          </a:xfrm>
          <a:prstGeom prst="rect">
            <a:avLst/>
          </a:prstGeom>
          <a:noFill/>
          <a:ln/>
        </p:spPr>
        <p:txBody>
          <a:bodyPr wrap="square" rtlCol="0" anchor="ctr"/>
          <a:lstStyle/>
          <a:p>
            <a:pPr indent="0" marL="0">
              <a:buNone/>
            </a:pPr>
            <a:r>
              <a:rPr lang="en-US" sz="1200" b="1" dirty="0">
                <a:solidFill>
                  <a:srgbClr val="2ECC71"/>
                </a:solidFill>
                <a:latin typeface="Cambria" pitchFamily="34" charset="0"/>
                <a:ea typeface="Cambria" pitchFamily="34" charset="-122"/>
                <a:cs typeface="Cambria" pitchFamily="34" charset="-120"/>
              </a:rPr>
              <a:t>95%</a:t>
            </a:r>
            <a:endParaRPr lang="en-US" sz="1200" dirty="0"/>
          </a:p>
        </p:txBody>
      </p:sp>
      <p:sp>
        <p:nvSpPr>
          <p:cNvPr id="10" name="Text 8"/>
          <p:cNvSpPr/>
          <p:nvPr/>
        </p:nvSpPr>
        <p:spPr>
          <a:xfrm>
            <a:off x="548640" y="1389888"/>
            <a:ext cx="822960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First platform to unify scam detection + currency AI + fraud graph + citizen shield in India</a:t>
            </a:r>
            <a:endParaRPr lang="en-US" sz="1000" dirty="0"/>
          </a:p>
        </p:txBody>
      </p:sp>
      <p:sp>
        <p:nvSpPr>
          <p:cNvPr id="11" name="Shape 9"/>
          <p:cNvSpPr/>
          <p:nvPr/>
        </p:nvSpPr>
        <p:spPr>
          <a:xfrm>
            <a:off x="365760" y="1783080"/>
            <a:ext cx="8412480" cy="658368"/>
          </a:xfrm>
          <a:prstGeom prst="roundRect">
            <a:avLst>
              <a:gd name="adj" fmla="val 13889"/>
            </a:avLst>
          </a:prstGeom>
          <a:solidFill>
            <a:srgbClr val="12233D"/>
          </a:solidFill>
          <a:ln/>
          <a:effectLst>
            <a:outerShdw sx="100000" sy="100000" kx="0" ky="0" algn="bl" rotWithShape="0" blurRad="127000" dist="38100" dir="2700000">
              <a:srgbClr val="000000">
                <a:alpha val="18000"/>
              </a:srgbClr>
            </a:outerShdw>
          </a:effectLst>
        </p:spPr>
      </p:sp>
      <p:sp>
        <p:nvSpPr>
          <p:cNvPr id="12" name="Text 10"/>
          <p:cNvSpPr/>
          <p:nvPr/>
        </p:nvSpPr>
        <p:spPr>
          <a:xfrm>
            <a:off x="548640" y="1837944"/>
            <a:ext cx="18288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Business Impact</a:t>
            </a:r>
            <a:endParaRPr lang="en-US" sz="1300" dirty="0"/>
          </a:p>
        </p:txBody>
      </p:sp>
      <p:sp>
        <p:nvSpPr>
          <p:cNvPr id="13" name="Shape 11"/>
          <p:cNvSpPr/>
          <p:nvPr/>
        </p:nvSpPr>
        <p:spPr>
          <a:xfrm>
            <a:off x="2468880" y="1874520"/>
            <a:ext cx="502920" cy="320040"/>
          </a:xfrm>
          <a:prstGeom prst="roundRect">
            <a:avLst>
              <a:gd name="adj" fmla="val 20000"/>
            </a:avLst>
          </a:prstGeom>
          <a:solidFill>
            <a:srgbClr val="E63946"/>
          </a:solidFill>
          <a:ln/>
        </p:spPr>
      </p:sp>
      <p:sp>
        <p:nvSpPr>
          <p:cNvPr id="14" name="Text 12"/>
          <p:cNvSpPr/>
          <p:nvPr/>
        </p:nvSpPr>
        <p:spPr>
          <a:xfrm>
            <a:off x="2468880" y="1874520"/>
            <a:ext cx="50292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25%</a:t>
            </a:r>
            <a:endParaRPr lang="en-US" sz="1100" dirty="0"/>
          </a:p>
        </p:txBody>
      </p:sp>
      <p:sp>
        <p:nvSpPr>
          <p:cNvPr id="15" name="Shape 13"/>
          <p:cNvSpPr/>
          <p:nvPr/>
        </p:nvSpPr>
        <p:spPr>
          <a:xfrm>
            <a:off x="3108960" y="1984248"/>
            <a:ext cx="3200400" cy="164592"/>
          </a:xfrm>
          <a:prstGeom prst="rect">
            <a:avLst/>
          </a:prstGeom>
          <a:solidFill>
            <a:srgbClr val="1E3A5F"/>
          </a:solidFill>
          <a:ln w="12700">
            <a:solidFill>
              <a:srgbClr val="1E3A5F"/>
            </a:solidFill>
            <a:prstDash val="solid"/>
          </a:ln>
        </p:spPr>
      </p:sp>
      <p:sp>
        <p:nvSpPr>
          <p:cNvPr id="16" name="Shape 14"/>
          <p:cNvSpPr/>
          <p:nvPr/>
        </p:nvSpPr>
        <p:spPr>
          <a:xfrm>
            <a:off x="3108960" y="1984248"/>
            <a:ext cx="2976372" cy="164592"/>
          </a:xfrm>
          <a:prstGeom prst="rect">
            <a:avLst/>
          </a:prstGeom>
          <a:solidFill>
            <a:srgbClr val="2ECC71"/>
          </a:solidFill>
          <a:ln w="12700">
            <a:solidFill>
              <a:srgbClr val="2ECC71"/>
            </a:solidFill>
            <a:prstDash val="solid"/>
          </a:ln>
        </p:spPr>
      </p:sp>
      <p:sp>
        <p:nvSpPr>
          <p:cNvPr id="17" name="Text 15"/>
          <p:cNvSpPr/>
          <p:nvPr/>
        </p:nvSpPr>
        <p:spPr>
          <a:xfrm>
            <a:off x="6400800" y="1929384"/>
            <a:ext cx="548640" cy="274320"/>
          </a:xfrm>
          <a:prstGeom prst="rect">
            <a:avLst/>
          </a:prstGeom>
          <a:noFill/>
          <a:ln/>
        </p:spPr>
        <p:txBody>
          <a:bodyPr wrap="square" rtlCol="0" anchor="ctr"/>
          <a:lstStyle/>
          <a:p>
            <a:pPr indent="0" marL="0">
              <a:buNone/>
            </a:pPr>
            <a:r>
              <a:rPr lang="en-US" sz="1200" b="1" dirty="0">
                <a:solidFill>
                  <a:srgbClr val="2ECC71"/>
                </a:solidFill>
                <a:latin typeface="Cambria" pitchFamily="34" charset="0"/>
                <a:ea typeface="Cambria" pitchFamily="34" charset="-122"/>
                <a:cs typeface="Cambria" pitchFamily="34" charset="-120"/>
              </a:rPr>
              <a:t>93%</a:t>
            </a:r>
            <a:endParaRPr lang="en-US" sz="1200" dirty="0"/>
          </a:p>
        </p:txBody>
      </p:sp>
      <p:sp>
        <p:nvSpPr>
          <p:cNvPr id="18" name="Text 16"/>
          <p:cNvSpPr/>
          <p:nvPr/>
        </p:nvSpPr>
        <p:spPr>
          <a:xfrm>
            <a:off x="548640" y="2167128"/>
            <a:ext cx="822960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₹3,152Cr annual fraud addressed · MHA, RBI, telecom integration · 1B citizens covered</a:t>
            </a:r>
            <a:endParaRPr lang="en-US" sz="1000" dirty="0"/>
          </a:p>
        </p:txBody>
      </p:sp>
      <p:sp>
        <p:nvSpPr>
          <p:cNvPr id="19" name="Shape 17"/>
          <p:cNvSpPr/>
          <p:nvPr/>
        </p:nvSpPr>
        <p:spPr>
          <a:xfrm>
            <a:off x="365760" y="2560320"/>
            <a:ext cx="8412480" cy="658368"/>
          </a:xfrm>
          <a:prstGeom prst="roundRect">
            <a:avLst>
              <a:gd name="adj" fmla="val 13889"/>
            </a:avLst>
          </a:prstGeom>
          <a:solidFill>
            <a:srgbClr val="12233D"/>
          </a:solidFill>
          <a:ln/>
          <a:effectLst>
            <a:outerShdw sx="100000" sy="100000" kx="0" ky="0" algn="bl" rotWithShape="0" blurRad="127000" dist="38100" dir="2700000">
              <a:srgbClr val="000000">
                <a:alpha val="18000"/>
              </a:srgbClr>
            </a:outerShdw>
          </a:effectLst>
        </p:spPr>
      </p:sp>
      <p:sp>
        <p:nvSpPr>
          <p:cNvPr id="20" name="Text 18"/>
          <p:cNvSpPr/>
          <p:nvPr/>
        </p:nvSpPr>
        <p:spPr>
          <a:xfrm>
            <a:off x="548640" y="2615184"/>
            <a:ext cx="18288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Technical Excellence</a:t>
            </a:r>
            <a:endParaRPr lang="en-US" sz="1300" dirty="0"/>
          </a:p>
        </p:txBody>
      </p:sp>
      <p:sp>
        <p:nvSpPr>
          <p:cNvPr id="21" name="Shape 19"/>
          <p:cNvSpPr/>
          <p:nvPr/>
        </p:nvSpPr>
        <p:spPr>
          <a:xfrm>
            <a:off x="2468880" y="2651760"/>
            <a:ext cx="502920" cy="320040"/>
          </a:xfrm>
          <a:prstGeom prst="roundRect">
            <a:avLst>
              <a:gd name="adj" fmla="val 20000"/>
            </a:avLst>
          </a:prstGeom>
          <a:solidFill>
            <a:srgbClr val="E63946"/>
          </a:solidFill>
          <a:ln/>
        </p:spPr>
      </p:sp>
      <p:sp>
        <p:nvSpPr>
          <p:cNvPr id="22" name="Text 20"/>
          <p:cNvSpPr/>
          <p:nvPr/>
        </p:nvSpPr>
        <p:spPr>
          <a:xfrm>
            <a:off x="2468880" y="2651760"/>
            <a:ext cx="50292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20%</a:t>
            </a:r>
            <a:endParaRPr lang="en-US" sz="1100" dirty="0"/>
          </a:p>
        </p:txBody>
      </p:sp>
      <p:sp>
        <p:nvSpPr>
          <p:cNvPr id="23" name="Shape 21"/>
          <p:cNvSpPr/>
          <p:nvPr/>
        </p:nvSpPr>
        <p:spPr>
          <a:xfrm>
            <a:off x="3108960" y="2761488"/>
            <a:ext cx="3200400" cy="164592"/>
          </a:xfrm>
          <a:prstGeom prst="rect">
            <a:avLst/>
          </a:prstGeom>
          <a:solidFill>
            <a:srgbClr val="1E3A5F"/>
          </a:solidFill>
          <a:ln w="12700">
            <a:solidFill>
              <a:srgbClr val="1E3A5F"/>
            </a:solidFill>
            <a:prstDash val="solid"/>
          </a:ln>
        </p:spPr>
      </p:sp>
      <p:sp>
        <p:nvSpPr>
          <p:cNvPr id="24" name="Shape 22"/>
          <p:cNvSpPr/>
          <p:nvPr/>
        </p:nvSpPr>
        <p:spPr>
          <a:xfrm>
            <a:off x="3108960" y="2761488"/>
            <a:ext cx="2880360" cy="164592"/>
          </a:xfrm>
          <a:prstGeom prst="rect">
            <a:avLst/>
          </a:prstGeom>
          <a:solidFill>
            <a:srgbClr val="2ECC71"/>
          </a:solidFill>
          <a:ln w="12700">
            <a:solidFill>
              <a:srgbClr val="2ECC71"/>
            </a:solidFill>
            <a:prstDash val="solid"/>
          </a:ln>
        </p:spPr>
      </p:sp>
      <p:sp>
        <p:nvSpPr>
          <p:cNvPr id="25" name="Text 23"/>
          <p:cNvSpPr/>
          <p:nvPr/>
        </p:nvSpPr>
        <p:spPr>
          <a:xfrm>
            <a:off x="6400800" y="2706624"/>
            <a:ext cx="548640" cy="274320"/>
          </a:xfrm>
          <a:prstGeom prst="rect">
            <a:avLst/>
          </a:prstGeom>
          <a:noFill/>
          <a:ln/>
        </p:spPr>
        <p:txBody>
          <a:bodyPr wrap="square" rtlCol="0" anchor="ctr"/>
          <a:lstStyle/>
          <a:p>
            <a:pPr indent="0" marL="0">
              <a:buNone/>
            </a:pPr>
            <a:r>
              <a:rPr lang="en-US" sz="1200" b="1" dirty="0">
                <a:solidFill>
                  <a:srgbClr val="2ECC71"/>
                </a:solidFill>
                <a:latin typeface="Cambria" pitchFamily="34" charset="0"/>
                <a:ea typeface="Cambria" pitchFamily="34" charset="-122"/>
                <a:cs typeface="Cambria" pitchFamily="34" charset="-120"/>
              </a:rPr>
              <a:t>90%</a:t>
            </a:r>
            <a:endParaRPr lang="en-US" sz="1200" dirty="0"/>
          </a:p>
        </p:txBody>
      </p:sp>
      <p:sp>
        <p:nvSpPr>
          <p:cNvPr id="26" name="Text 24"/>
          <p:cNvSpPr/>
          <p:nvPr/>
        </p:nvSpPr>
        <p:spPr>
          <a:xfrm>
            <a:off x="548640" y="2944368"/>
            <a:ext cx="822960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LangGraph agents · GNN · YOLOv8 · FastAPI · Neo4j · Kafka — production-grade stack</a:t>
            </a:r>
            <a:endParaRPr lang="en-US" sz="1000" dirty="0"/>
          </a:p>
        </p:txBody>
      </p:sp>
      <p:sp>
        <p:nvSpPr>
          <p:cNvPr id="27" name="Shape 25"/>
          <p:cNvSpPr/>
          <p:nvPr/>
        </p:nvSpPr>
        <p:spPr>
          <a:xfrm>
            <a:off x="365760" y="3337560"/>
            <a:ext cx="8412480" cy="658368"/>
          </a:xfrm>
          <a:prstGeom prst="roundRect">
            <a:avLst>
              <a:gd name="adj" fmla="val 13889"/>
            </a:avLst>
          </a:prstGeom>
          <a:solidFill>
            <a:srgbClr val="12233D"/>
          </a:solidFill>
          <a:ln/>
          <a:effectLst>
            <a:outerShdw sx="100000" sy="100000" kx="0" ky="0" algn="bl" rotWithShape="0" blurRad="127000" dist="38100" dir="2700000">
              <a:srgbClr val="000000">
                <a:alpha val="18000"/>
              </a:srgbClr>
            </a:outerShdw>
          </a:effectLst>
        </p:spPr>
      </p:sp>
      <p:sp>
        <p:nvSpPr>
          <p:cNvPr id="28" name="Text 26"/>
          <p:cNvSpPr/>
          <p:nvPr/>
        </p:nvSpPr>
        <p:spPr>
          <a:xfrm>
            <a:off x="548640" y="3392424"/>
            <a:ext cx="18288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Scalability</a:t>
            </a:r>
            <a:endParaRPr lang="en-US" sz="1300" dirty="0"/>
          </a:p>
        </p:txBody>
      </p:sp>
      <p:sp>
        <p:nvSpPr>
          <p:cNvPr id="29" name="Shape 27"/>
          <p:cNvSpPr/>
          <p:nvPr/>
        </p:nvSpPr>
        <p:spPr>
          <a:xfrm>
            <a:off x="2468880" y="3429000"/>
            <a:ext cx="502920" cy="320040"/>
          </a:xfrm>
          <a:prstGeom prst="roundRect">
            <a:avLst>
              <a:gd name="adj" fmla="val 20000"/>
            </a:avLst>
          </a:prstGeom>
          <a:solidFill>
            <a:srgbClr val="E63946"/>
          </a:solidFill>
          <a:ln/>
        </p:spPr>
      </p:sp>
      <p:sp>
        <p:nvSpPr>
          <p:cNvPr id="30" name="Text 28"/>
          <p:cNvSpPr/>
          <p:nvPr/>
        </p:nvSpPr>
        <p:spPr>
          <a:xfrm>
            <a:off x="2468880" y="3429000"/>
            <a:ext cx="50292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31" name="Shape 29"/>
          <p:cNvSpPr/>
          <p:nvPr/>
        </p:nvSpPr>
        <p:spPr>
          <a:xfrm>
            <a:off x="3108960" y="3538728"/>
            <a:ext cx="3200400" cy="164592"/>
          </a:xfrm>
          <a:prstGeom prst="rect">
            <a:avLst/>
          </a:prstGeom>
          <a:solidFill>
            <a:srgbClr val="1E3A5F"/>
          </a:solidFill>
          <a:ln w="12700">
            <a:solidFill>
              <a:srgbClr val="1E3A5F"/>
            </a:solidFill>
            <a:prstDash val="solid"/>
          </a:ln>
        </p:spPr>
      </p:sp>
      <p:sp>
        <p:nvSpPr>
          <p:cNvPr id="32" name="Shape 30"/>
          <p:cNvSpPr/>
          <p:nvPr/>
        </p:nvSpPr>
        <p:spPr>
          <a:xfrm>
            <a:off x="3108960" y="3538728"/>
            <a:ext cx="2944368" cy="164592"/>
          </a:xfrm>
          <a:prstGeom prst="rect">
            <a:avLst/>
          </a:prstGeom>
          <a:solidFill>
            <a:srgbClr val="2ECC71"/>
          </a:solidFill>
          <a:ln w="12700">
            <a:solidFill>
              <a:srgbClr val="2ECC71"/>
            </a:solidFill>
            <a:prstDash val="solid"/>
          </a:ln>
        </p:spPr>
      </p:sp>
      <p:sp>
        <p:nvSpPr>
          <p:cNvPr id="33" name="Text 31"/>
          <p:cNvSpPr/>
          <p:nvPr/>
        </p:nvSpPr>
        <p:spPr>
          <a:xfrm>
            <a:off x="6400800" y="3483864"/>
            <a:ext cx="548640" cy="274320"/>
          </a:xfrm>
          <a:prstGeom prst="rect">
            <a:avLst/>
          </a:prstGeom>
          <a:noFill/>
          <a:ln/>
        </p:spPr>
        <p:txBody>
          <a:bodyPr wrap="square" rtlCol="0" anchor="ctr"/>
          <a:lstStyle/>
          <a:p>
            <a:pPr indent="0" marL="0">
              <a:buNone/>
            </a:pPr>
            <a:r>
              <a:rPr lang="en-US" sz="1200" b="1" dirty="0">
                <a:solidFill>
                  <a:srgbClr val="2ECC71"/>
                </a:solidFill>
                <a:latin typeface="Cambria" pitchFamily="34" charset="0"/>
                <a:ea typeface="Cambria" pitchFamily="34" charset="-122"/>
                <a:cs typeface="Cambria" pitchFamily="34" charset="-120"/>
              </a:rPr>
              <a:t>92%</a:t>
            </a:r>
            <a:endParaRPr lang="en-US" sz="1200" dirty="0"/>
          </a:p>
        </p:txBody>
      </p:sp>
      <p:sp>
        <p:nvSpPr>
          <p:cNvPr id="34" name="Text 32"/>
          <p:cNvSpPr/>
          <p:nvPr/>
        </p:nvSpPr>
        <p:spPr>
          <a:xfrm>
            <a:off x="548640" y="3721608"/>
            <a:ext cx="822960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3-phase national rollout plan · Docker · API-first · SaaS model ready</a:t>
            </a:r>
            <a:endParaRPr lang="en-US" sz="1000" dirty="0"/>
          </a:p>
        </p:txBody>
      </p:sp>
      <p:sp>
        <p:nvSpPr>
          <p:cNvPr id="35" name="Shape 33"/>
          <p:cNvSpPr/>
          <p:nvPr/>
        </p:nvSpPr>
        <p:spPr>
          <a:xfrm>
            <a:off x="365760" y="4114800"/>
            <a:ext cx="8412480" cy="658368"/>
          </a:xfrm>
          <a:prstGeom prst="roundRect">
            <a:avLst>
              <a:gd name="adj" fmla="val 13889"/>
            </a:avLst>
          </a:prstGeom>
          <a:solidFill>
            <a:srgbClr val="12233D"/>
          </a:solidFill>
          <a:ln/>
          <a:effectLst>
            <a:outerShdw sx="100000" sy="100000" kx="0" ky="0" algn="bl" rotWithShape="0" blurRad="127000" dist="38100" dir="2700000">
              <a:srgbClr val="000000">
                <a:alpha val="18000"/>
              </a:srgbClr>
            </a:outerShdw>
          </a:effectLst>
        </p:spPr>
      </p:sp>
      <p:sp>
        <p:nvSpPr>
          <p:cNvPr id="36" name="Text 34"/>
          <p:cNvSpPr/>
          <p:nvPr/>
        </p:nvSpPr>
        <p:spPr>
          <a:xfrm>
            <a:off x="548640" y="4169664"/>
            <a:ext cx="18288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User Experience</a:t>
            </a:r>
            <a:endParaRPr lang="en-US" sz="1300" dirty="0"/>
          </a:p>
        </p:txBody>
      </p:sp>
      <p:sp>
        <p:nvSpPr>
          <p:cNvPr id="37" name="Shape 35"/>
          <p:cNvSpPr/>
          <p:nvPr/>
        </p:nvSpPr>
        <p:spPr>
          <a:xfrm>
            <a:off x="2468880" y="4206240"/>
            <a:ext cx="502920" cy="320040"/>
          </a:xfrm>
          <a:prstGeom prst="roundRect">
            <a:avLst>
              <a:gd name="adj" fmla="val 20000"/>
            </a:avLst>
          </a:prstGeom>
          <a:solidFill>
            <a:srgbClr val="E63946"/>
          </a:solidFill>
          <a:ln/>
        </p:spPr>
      </p:sp>
      <p:sp>
        <p:nvSpPr>
          <p:cNvPr id="38" name="Text 36"/>
          <p:cNvSpPr/>
          <p:nvPr/>
        </p:nvSpPr>
        <p:spPr>
          <a:xfrm>
            <a:off x="2468880" y="4206240"/>
            <a:ext cx="50292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39" name="Shape 37"/>
          <p:cNvSpPr/>
          <p:nvPr/>
        </p:nvSpPr>
        <p:spPr>
          <a:xfrm>
            <a:off x="3108960" y="4315968"/>
            <a:ext cx="3200400" cy="164592"/>
          </a:xfrm>
          <a:prstGeom prst="rect">
            <a:avLst/>
          </a:prstGeom>
          <a:solidFill>
            <a:srgbClr val="1E3A5F"/>
          </a:solidFill>
          <a:ln w="12700">
            <a:solidFill>
              <a:srgbClr val="1E3A5F"/>
            </a:solidFill>
            <a:prstDash val="solid"/>
          </a:ln>
        </p:spPr>
      </p:sp>
      <p:sp>
        <p:nvSpPr>
          <p:cNvPr id="40" name="Shape 38"/>
          <p:cNvSpPr/>
          <p:nvPr/>
        </p:nvSpPr>
        <p:spPr>
          <a:xfrm>
            <a:off x="3108960" y="4315968"/>
            <a:ext cx="3008376" cy="164592"/>
          </a:xfrm>
          <a:prstGeom prst="rect">
            <a:avLst/>
          </a:prstGeom>
          <a:solidFill>
            <a:srgbClr val="2ECC71"/>
          </a:solidFill>
          <a:ln w="12700">
            <a:solidFill>
              <a:srgbClr val="2ECC71"/>
            </a:solidFill>
            <a:prstDash val="solid"/>
          </a:ln>
        </p:spPr>
      </p:sp>
      <p:sp>
        <p:nvSpPr>
          <p:cNvPr id="41" name="Text 39"/>
          <p:cNvSpPr/>
          <p:nvPr/>
        </p:nvSpPr>
        <p:spPr>
          <a:xfrm>
            <a:off x="6400800" y="4261104"/>
            <a:ext cx="548640" cy="274320"/>
          </a:xfrm>
          <a:prstGeom prst="rect">
            <a:avLst/>
          </a:prstGeom>
          <a:noFill/>
          <a:ln/>
        </p:spPr>
        <p:txBody>
          <a:bodyPr wrap="square" rtlCol="0" anchor="ctr"/>
          <a:lstStyle/>
          <a:p>
            <a:pPr indent="0" marL="0">
              <a:buNone/>
            </a:pPr>
            <a:r>
              <a:rPr lang="en-US" sz="1200" b="1" dirty="0">
                <a:solidFill>
                  <a:srgbClr val="2ECC71"/>
                </a:solidFill>
                <a:latin typeface="Cambria" pitchFamily="34" charset="0"/>
                <a:ea typeface="Cambria" pitchFamily="34" charset="-122"/>
                <a:cs typeface="Cambria" pitchFamily="34" charset="-120"/>
              </a:rPr>
              <a:t>94%</a:t>
            </a:r>
            <a:endParaRPr lang="en-US" sz="1200" dirty="0"/>
          </a:p>
        </p:txBody>
      </p:sp>
      <p:sp>
        <p:nvSpPr>
          <p:cNvPr id="42" name="Text 40"/>
          <p:cNvSpPr/>
          <p:nvPr/>
        </p:nvSpPr>
        <p:spPr>
          <a:xfrm>
            <a:off x="548640" y="4498848"/>
            <a:ext cx="8229600" cy="25603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Premium dark dashboard · 12-language citizen bot · Mobile-first PWA · Dark mode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What's Next</a:t>
            </a:r>
            <a:endParaRPr lang="en-US" sz="3600" dirty="0"/>
          </a:p>
        </p:txBody>
      </p:sp>
      <p:sp>
        <p:nvSpPr>
          <p:cNvPr id="3" name="Shape 1"/>
          <p:cNvSpPr/>
          <p:nvPr/>
        </p:nvSpPr>
        <p:spPr>
          <a:xfrm>
            <a:off x="365760" y="1097280"/>
            <a:ext cx="8412480" cy="640080"/>
          </a:xfrm>
          <a:prstGeom prst="roundRect">
            <a:avLst>
              <a:gd name="adj" fmla="val 14286"/>
            </a:avLst>
          </a:prstGeom>
          <a:solidFill>
            <a:srgbClr val="12233D"/>
          </a:solidFill>
          <a:ln/>
          <a:effectLst>
            <a:outerShdw sx="100000" sy="100000" kx="0" ky="0" algn="bl" rotWithShape="0" blurRad="127000" dist="38100" dir="2700000">
              <a:srgbClr val="000000">
                <a:alpha val="18000"/>
              </a:srgbClr>
            </a:outerShdw>
          </a:effectLst>
        </p:spPr>
      </p:sp>
      <p:sp>
        <p:nvSpPr>
          <p:cNvPr id="4" name="Shape 2"/>
          <p:cNvSpPr/>
          <p:nvPr/>
        </p:nvSpPr>
        <p:spPr>
          <a:xfrm>
            <a:off x="548640" y="1216152"/>
            <a:ext cx="402336" cy="402336"/>
          </a:xfrm>
          <a:prstGeom prst="ellipse">
            <a:avLst/>
          </a:prstGeom>
          <a:solidFill>
            <a:srgbClr val="1E3A5F"/>
          </a:solidFill>
          <a:ln w="12700">
            <a:solidFill>
              <a:srgbClr val="3B82F6"/>
            </a:solidFill>
            <a:prstDash val="solid"/>
          </a:ln>
        </p:spPr>
      </p:sp>
      <p:sp>
        <p:nvSpPr>
          <p:cNvPr id="5" name="Text 3"/>
          <p:cNvSpPr/>
          <p:nvPr/>
        </p:nvSpPr>
        <p:spPr>
          <a:xfrm>
            <a:off x="548640" y="1216152"/>
            <a:ext cx="402336" cy="402336"/>
          </a:xfrm>
          <a:prstGeom prst="rect">
            <a:avLst/>
          </a:prstGeom>
          <a:noFill/>
          <a:ln/>
        </p:spPr>
        <p:txBody>
          <a:bodyPr wrap="square" rtlCol="0" anchor="ctr"/>
          <a:lstStyle/>
          <a:p>
            <a:pPr algn="ctr" indent="0" marL="0">
              <a:buNone/>
            </a:pPr>
            <a:r>
              <a:rPr lang="en-US" sz="1600" dirty="0">
                <a:solidFill>
                  <a:srgbClr val="3B82F6"/>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1097280" y="1161288"/>
            <a:ext cx="36576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Voice AI Integration</a:t>
            </a:r>
            <a:endParaRPr lang="en-US" sz="1300" dirty="0"/>
          </a:p>
        </p:txBody>
      </p:sp>
      <p:sp>
        <p:nvSpPr>
          <p:cNvPr id="7" name="Text 5"/>
          <p:cNvSpPr/>
          <p:nvPr/>
        </p:nvSpPr>
        <p:spPr>
          <a:xfrm>
            <a:off x="1097280" y="1444752"/>
            <a:ext cx="7498080" cy="2743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Detect AI-generated scammer voices in real time using Whisper + deepfake detection</a:t>
            </a:r>
            <a:endParaRPr lang="en-US" sz="1100" dirty="0"/>
          </a:p>
        </p:txBody>
      </p:sp>
      <p:sp>
        <p:nvSpPr>
          <p:cNvPr id="8" name="Shape 6"/>
          <p:cNvSpPr/>
          <p:nvPr/>
        </p:nvSpPr>
        <p:spPr>
          <a:xfrm>
            <a:off x="365760" y="1856232"/>
            <a:ext cx="8412480" cy="640080"/>
          </a:xfrm>
          <a:prstGeom prst="roundRect">
            <a:avLst>
              <a:gd name="adj" fmla="val 14286"/>
            </a:avLst>
          </a:prstGeom>
          <a:solidFill>
            <a:srgbClr val="12233D"/>
          </a:solidFill>
          <a:ln/>
          <a:effectLst>
            <a:outerShdw sx="100000" sy="100000" kx="0" ky="0" algn="bl" rotWithShape="0" blurRad="127000" dist="38100" dir="2700000">
              <a:srgbClr val="000000">
                <a:alpha val="18000"/>
              </a:srgbClr>
            </a:outerShdw>
          </a:effectLst>
        </p:spPr>
      </p:sp>
      <p:sp>
        <p:nvSpPr>
          <p:cNvPr id="9" name="Shape 7"/>
          <p:cNvSpPr/>
          <p:nvPr/>
        </p:nvSpPr>
        <p:spPr>
          <a:xfrm>
            <a:off x="548640" y="1975104"/>
            <a:ext cx="402336" cy="402336"/>
          </a:xfrm>
          <a:prstGeom prst="ellipse">
            <a:avLst/>
          </a:prstGeom>
          <a:solidFill>
            <a:srgbClr val="1E3A5F"/>
          </a:solidFill>
          <a:ln w="12700">
            <a:solidFill>
              <a:srgbClr val="3B82F6"/>
            </a:solidFill>
            <a:prstDash val="solid"/>
          </a:ln>
        </p:spPr>
      </p:sp>
      <p:sp>
        <p:nvSpPr>
          <p:cNvPr id="10" name="Text 8"/>
          <p:cNvSpPr/>
          <p:nvPr/>
        </p:nvSpPr>
        <p:spPr>
          <a:xfrm>
            <a:off x="548640" y="1975104"/>
            <a:ext cx="402336" cy="402336"/>
          </a:xfrm>
          <a:prstGeom prst="rect">
            <a:avLst/>
          </a:prstGeom>
          <a:noFill/>
          <a:ln/>
        </p:spPr>
        <p:txBody>
          <a:bodyPr wrap="square" rtlCol="0" anchor="ctr"/>
          <a:lstStyle/>
          <a:p>
            <a:pPr algn="ctr" indent="0" marL="0">
              <a:buNone/>
            </a:pPr>
            <a:r>
              <a:rPr lang="en-US" sz="1600" dirty="0">
                <a:solidFill>
                  <a:srgbClr val="3B82F6"/>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097280" y="1920240"/>
            <a:ext cx="36576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WhatsApp Bot Live Deploy</a:t>
            </a:r>
            <a:endParaRPr lang="en-US" sz="1300" dirty="0"/>
          </a:p>
        </p:txBody>
      </p:sp>
      <p:sp>
        <p:nvSpPr>
          <p:cNvPr id="12" name="Text 10"/>
          <p:cNvSpPr/>
          <p:nvPr/>
        </p:nvSpPr>
        <p:spPr>
          <a:xfrm>
            <a:off x="1097280" y="2203704"/>
            <a:ext cx="7498080" cy="2743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Citizen Shield live on WhatsApp Business API for 500M+ Indian users</a:t>
            </a:r>
            <a:endParaRPr lang="en-US" sz="1100" dirty="0"/>
          </a:p>
        </p:txBody>
      </p:sp>
      <p:sp>
        <p:nvSpPr>
          <p:cNvPr id="13" name="Shape 11"/>
          <p:cNvSpPr/>
          <p:nvPr/>
        </p:nvSpPr>
        <p:spPr>
          <a:xfrm>
            <a:off x="365760" y="2615184"/>
            <a:ext cx="8412480" cy="640080"/>
          </a:xfrm>
          <a:prstGeom prst="roundRect">
            <a:avLst>
              <a:gd name="adj" fmla="val 14286"/>
            </a:avLst>
          </a:prstGeom>
          <a:solidFill>
            <a:srgbClr val="12233D"/>
          </a:solidFill>
          <a:ln/>
          <a:effectLst>
            <a:outerShdw sx="100000" sy="100000" kx="0" ky="0" algn="bl" rotWithShape="0" blurRad="127000" dist="38100" dir="2700000">
              <a:srgbClr val="000000">
                <a:alpha val="18000"/>
              </a:srgbClr>
            </a:outerShdw>
          </a:effectLst>
        </p:spPr>
      </p:sp>
      <p:sp>
        <p:nvSpPr>
          <p:cNvPr id="14" name="Shape 12"/>
          <p:cNvSpPr/>
          <p:nvPr/>
        </p:nvSpPr>
        <p:spPr>
          <a:xfrm>
            <a:off x="548640" y="2734056"/>
            <a:ext cx="402336" cy="402336"/>
          </a:xfrm>
          <a:prstGeom prst="ellipse">
            <a:avLst/>
          </a:prstGeom>
          <a:solidFill>
            <a:srgbClr val="1E3A5F"/>
          </a:solidFill>
          <a:ln w="12700">
            <a:solidFill>
              <a:srgbClr val="3B82F6"/>
            </a:solidFill>
            <a:prstDash val="solid"/>
          </a:ln>
        </p:spPr>
      </p:sp>
      <p:sp>
        <p:nvSpPr>
          <p:cNvPr id="15" name="Text 13"/>
          <p:cNvSpPr/>
          <p:nvPr/>
        </p:nvSpPr>
        <p:spPr>
          <a:xfrm>
            <a:off x="548640" y="2734056"/>
            <a:ext cx="402336" cy="402336"/>
          </a:xfrm>
          <a:prstGeom prst="rect">
            <a:avLst/>
          </a:prstGeom>
          <a:noFill/>
          <a:ln/>
        </p:spPr>
        <p:txBody>
          <a:bodyPr wrap="square" rtlCol="0" anchor="ctr"/>
          <a:lstStyle/>
          <a:p>
            <a:pPr algn="ctr" indent="0" marL="0">
              <a:buNone/>
            </a:pPr>
            <a:r>
              <a:rPr lang="en-US" sz="1600" dirty="0">
                <a:solidFill>
                  <a:srgbClr val="3B82F6"/>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097280" y="2679192"/>
            <a:ext cx="36576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State Police CCTNS Integration</a:t>
            </a:r>
            <a:endParaRPr lang="en-US" sz="1300" dirty="0"/>
          </a:p>
        </p:txBody>
      </p:sp>
      <p:sp>
        <p:nvSpPr>
          <p:cNvPr id="17" name="Text 15"/>
          <p:cNvSpPr/>
          <p:nvPr/>
        </p:nvSpPr>
        <p:spPr>
          <a:xfrm>
            <a:off x="1097280" y="2962656"/>
            <a:ext cx="7498080" cy="2743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Direct API bridge to existing CCTNS crime reporting infrastructure</a:t>
            </a:r>
            <a:endParaRPr lang="en-US" sz="1100" dirty="0"/>
          </a:p>
        </p:txBody>
      </p:sp>
      <p:sp>
        <p:nvSpPr>
          <p:cNvPr id="18" name="Shape 16"/>
          <p:cNvSpPr/>
          <p:nvPr/>
        </p:nvSpPr>
        <p:spPr>
          <a:xfrm>
            <a:off x="365760" y="3374136"/>
            <a:ext cx="8412480" cy="640080"/>
          </a:xfrm>
          <a:prstGeom prst="roundRect">
            <a:avLst>
              <a:gd name="adj" fmla="val 14286"/>
            </a:avLst>
          </a:prstGeom>
          <a:solidFill>
            <a:srgbClr val="12233D"/>
          </a:solidFill>
          <a:ln/>
          <a:effectLst>
            <a:outerShdw sx="100000" sy="100000" kx="0" ky="0" algn="bl" rotWithShape="0" blurRad="127000" dist="38100" dir="2700000">
              <a:srgbClr val="000000">
                <a:alpha val="18000"/>
              </a:srgbClr>
            </a:outerShdw>
          </a:effectLst>
        </p:spPr>
      </p:sp>
      <p:sp>
        <p:nvSpPr>
          <p:cNvPr id="19" name="Shape 17"/>
          <p:cNvSpPr/>
          <p:nvPr/>
        </p:nvSpPr>
        <p:spPr>
          <a:xfrm>
            <a:off x="548640" y="3493008"/>
            <a:ext cx="402336" cy="402336"/>
          </a:xfrm>
          <a:prstGeom prst="ellipse">
            <a:avLst/>
          </a:prstGeom>
          <a:solidFill>
            <a:srgbClr val="1E3A5F"/>
          </a:solidFill>
          <a:ln w="12700">
            <a:solidFill>
              <a:srgbClr val="3B82F6"/>
            </a:solidFill>
            <a:prstDash val="solid"/>
          </a:ln>
        </p:spPr>
      </p:sp>
      <p:sp>
        <p:nvSpPr>
          <p:cNvPr id="20" name="Text 18"/>
          <p:cNvSpPr/>
          <p:nvPr/>
        </p:nvSpPr>
        <p:spPr>
          <a:xfrm>
            <a:off x="548640" y="3493008"/>
            <a:ext cx="402336" cy="402336"/>
          </a:xfrm>
          <a:prstGeom prst="rect">
            <a:avLst/>
          </a:prstGeom>
          <a:noFill/>
          <a:ln/>
        </p:spPr>
        <p:txBody>
          <a:bodyPr wrap="square" rtlCol="0" anchor="ctr"/>
          <a:lstStyle/>
          <a:p>
            <a:pPr algn="ctr" indent="0" marL="0">
              <a:buNone/>
            </a:pPr>
            <a:r>
              <a:rPr lang="en-US" sz="1600" dirty="0">
                <a:solidFill>
                  <a:srgbClr val="3B82F6"/>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1097280" y="3438144"/>
            <a:ext cx="36576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Aadhaar Verification Layer</a:t>
            </a:r>
            <a:endParaRPr lang="en-US" sz="1300" dirty="0"/>
          </a:p>
        </p:txBody>
      </p:sp>
      <p:sp>
        <p:nvSpPr>
          <p:cNvPr id="22" name="Text 20"/>
          <p:cNvSpPr/>
          <p:nvPr/>
        </p:nvSpPr>
        <p:spPr>
          <a:xfrm>
            <a:off x="1097280" y="3721608"/>
            <a:ext cx="7498080" cy="2743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Verify caller identity against UIDAI database to instantly debunk impersonators</a:t>
            </a:r>
            <a:endParaRPr lang="en-US" sz="1100" dirty="0"/>
          </a:p>
        </p:txBody>
      </p:sp>
      <p:sp>
        <p:nvSpPr>
          <p:cNvPr id="23" name="Shape 21"/>
          <p:cNvSpPr/>
          <p:nvPr/>
        </p:nvSpPr>
        <p:spPr>
          <a:xfrm>
            <a:off x="365760" y="4133088"/>
            <a:ext cx="8412480" cy="640080"/>
          </a:xfrm>
          <a:prstGeom prst="roundRect">
            <a:avLst>
              <a:gd name="adj" fmla="val 14286"/>
            </a:avLst>
          </a:prstGeom>
          <a:solidFill>
            <a:srgbClr val="12233D"/>
          </a:solidFill>
          <a:ln/>
          <a:effectLst>
            <a:outerShdw sx="100000" sy="100000" kx="0" ky="0" algn="bl" rotWithShape="0" blurRad="127000" dist="38100" dir="2700000">
              <a:srgbClr val="000000">
                <a:alpha val="18000"/>
              </a:srgbClr>
            </a:outerShdw>
          </a:effectLst>
        </p:spPr>
      </p:sp>
      <p:sp>
        <p:nvSpPr>
          <p:cNvPr id="24" name="Shape 22"/>
          <p:cNvSpPr/>
          <p:nvPr/>
        </p:nvSpPr>
        <p:spPr>
          <a:xfrm>
            <a:off x="548640" y="4251960"/>
            <a:ext cx="402336" cy="402336"/>
          </a:xfrm>
          <a:prstGeom prst="ellipse">
            <a:avLst/>
          </a:prstGeom>
          <a:solidFill>
            <a:srgbClr val="1E3A5F"/>
          </a:solidFill>
          <a:ln w="12700">
            <a:solidFill>
              <a:srgbClr val="3B82F6"/>
            </a:solidFill>
            <a:prstDash val="solid"/>
          </a:ln>
        </p:spPr>
      </p:sp>
      <p:sp>
        <p:nvSpPr>
          <p:cNvPr id="25" name="Text 23"/>
          <p:cNvSpPr/>
          <p:nvPr/>
        </p:nvSpPr>
        <p:spPr>
          <a:xfrm>
            <a:off x="548640" y="4251960"/>
            <a:ext cx="402336" cy="402336"/>
          </a:xfrm>
          <a:prstGeom prst="rect">
            <a:avLst/>
          </a:prstGeom>
          <a:noFill/>
          <a:ln/>
        </p:spPr>
        <p:txBody>
          <a:bodyPr wrap="square" rtlCol="0" anchor="ctr"/>
          <a:lstStyle/>
          <a:p>
            <a:pPr algn="ctr" indent="0" marL="0">
              <a:buNone/>
            </a:pPr>
            <a:r>
              <a:rPr lang="en-US" sz="1600" dirty="0">
                <a:solidFill>
                  <a:srgbClr val="3B82F6"/>
                </a:solidFill>
                <a:latin typeface="Calibri" pitchFamily="34" charset="0"/>
                <a:ea typeface="Calibri" pitchFamily="34" charset="-122"/>
                <a:cs typeface="Calibri" pitchFamily="34" charset="-120"/>
              </a:rPr>
              <a:t>○</a:t>
            </a:r>
            <a:endParaRPr lang="en-US" sz="1600" dirty="0"/>
          </a:p>
        </p:txBody>
      </p:sp>
      <p:sp>
        <p:nvSpPr>
          <p:cNvPr id="26" name="Text 24"/>
          <p:cNvSpPr/>
          <p:nvPr/>
        </p:nvSpPr>
        <p:spPr>
          <a:xfrm>
            <a:off x="1097280" y="4197096"/>
            <a:ext cx="3657600" cy="32004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Multilingual Voice IVR</a:t>
            </a:r>
            <a:endParaRPr lang="en-US" sz="1300" dirty="0"/>
          </a:p>
        </p:txBody>
      </p:sp>
      <p:sp>
        <p:nvSpPr>
          <p:cNvPr id="27" name="Text 25"/>
          <p:cNvSpPr/>
          <p:nvPr/>
        </p:nvSpPr>
        <p:spPr>
          <a:xfrm>
            <a:off x="1097280" y="4480560"/>
            <a:ext cx="7498080" cy="274320"/>
          </a:xfrm>
          <a:prstGeom prst="rect">
            <a:avLst/>
          </a:prstGeom>
          <a:noFill/>
          <a:ln/>
        </p:spPr>
        <p:txBody>
          <a:bodyPr wrap="square" rtlCol="0" anchor="ctr"/>
          <a:lstStyle/>
          <a:p>
            <a:pPr indent="0" marL="0">
              <a:buNone/>
            </a:pPr>
            <a:r>
              <a:rPr lang="en-US" sz="1100" dirty="0">
                <a:solidFill>
                  <a:srgbClr val="E8EDF4"/>
                </a:solidFill>
                <a:latin typeface="Calibri" pitchFamily="34" charset="0"/>
                <a:ea typeface="Calibri" pitchFamily="34" charset="-122"/>
                <a:cs typeface="Calibri" pitchFamily="34" charset="-120"/>
              </a:rPr>
              <a:t>Citizens can call 1930-style helpline powered by SafeGuard AI in any language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3840480" y="365760"/>
            <a:ext cx="1463040" cy="1463040"/>
          </a:xfrm>
          <a:prstGeom prst="ellipse">
            <a:avLst/>
          </a:prstGeom>
          <a:solidFill>
            <a:srgbClr val="E63946"/>
          </a:solidFill>
          <a:ln w="12700">
            <a:solidFill>
              <a:srgbClr val="E63946"/>
            </a:solidFill>
            <a:prstDash val="solid"/>
          </a:ln>
        </p:spPr>
      </p:sp>
      <p:sp>
        <p:nvSpPr>
          <p:cNvPr id="3" name="Text 1"/>
          <p:cNvSpPr/>
          <p:nvPr/>
        </p:nvSpPr>
        <p:spPr>
          <a:xfrm>
            <a:off x="3840480" y="365760"/>
            <a:ext cx="1463040" cy="146304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4" name="Text 2"/>
          <p:cNvSpPr/>
          <p:nvPr/>
        </p:nvSpPr>
        <p:spPr>
          <a:xfrm>
            <a:off x="914400" y="1828800"/>
            <a:ext cx="7315200" cy="82296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SafeGuard AI</a:t>
            </a:r>
            <a:endParaRPr lang="en-US" sz="4400" dirty="0"/>
          </a:p>
        </p:txBody>
      </p:sp>
      <p:sp>
        <p:nvSpPr>
          <p:cNvPr id="5" name="Text 3"/>
          <p:cNvSpPr/>
          <p:nvPr/>
        </p:nvSpPr>
        <p:spPr>
          <a:xfrm>
            <a:off x="1371600" y="2697480"/>
            <a:ext cx="6400800" cy="822960"/>
          </a:xfrm>
          <a:prstGeom prst="rect">
            <a:avLst/>
          </a:prstGeom>
          <a:noFill/>
          <a:ln/>
        </p:spPr>
        <p:txBody>
          <a:bodyPr wrap="square"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Protecting India's citizens with intelligence,</a:t>
            </a:r>
            <a:endParaRPr lang="en-US" sz="1800" dirty="0"/>
          </a:p>
          <a:p>
            <a:pPr algn="ctr" indent="0" marL="0">
              <a:buNone/>
            </a:pPr>
            <a:r>
              <a:rPr lang="en-US" sz="1800" dirty="0">
                <a:solidFill>
                  <a:srgbClr val="CADCFC"/>
                </a:solidFill>
                <a:latin typeface="Calibri" pitchFamily="34" charset="0"/>
                <a:ea typeface="Calibri" pitchFamily="34" charset="-122"/>
                <a:cs typeface="Calibri" pitchFamily="34" charset="-120"/>
              </a:rPr>
              <a:t>not just information.</a:t>
            </a:r>
            <a:endParaRPr lang="en-US" sz="1800" dirty="0"/>
          </a:p>
        </p:txBody>
      </p:sp>
      <p:sp>
        <p:nvSpPr>
          <p:cNvPr id="6" name="Shape 4"/>
          <p:cNvSpPr/>
          <p:nvPr/>
        </p:nvSpPr>
        <p:spPr>
          <a:xfrm>
            <a:off x="3200400" y="3611880"/>
            <a:ext cx="2743200" cy="36576"/>
          </a:xfrm>
          <a:prstGeom prst="rect">
            <a:avLst/>
          </a:prstGeom>
          <a:solidFill>
            <a:srgbClr val="E63946"/>
          </a:solidFill>
          <a:ln w="12700">
            <a:solidFill>
              <a:srgbClr val="E63946"/>
            </a:solidFill>
            <a:prstDash val="solid"/>
          </a:ln>
        </p:spPr>
      </p:sp>
      <p:sp>
        <p:nvSpPr>
          <p:cNvPr id="7" name="Text 5"/>
          <p:cNvSpPr/>
          <p:nvPr/>
        </p:nvSpPr>
        <p:spPr>
          <a:xfrm>
            <a:off x="1828800" y="3794760"/>
            <a:ext cx="5486400" cy="27432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  github.com/safeguard-ai</a:t>
            </a:r>
            <a:endParaRPr lang="en-US" sz="1300" dirty="0"/>
          </a:p>
        </p:txBody>
      </p:sp>
      <p:sp>
        <p:nvSpPr>
          <p:cNvPr id="8" name="Text 6"/>
          <p:cNvSpPr/>
          <p:nvPr/>
        </p:nvSpPr>
        <p:spPr>
          <a:xfrm>
            <a:off x="1828800" y="4096512"/>
            <a:ext cx="5486400" cy="27432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  team@safeguardai.in</a:t>
            </a:r>
            <a:endParaRPr lang="en-US" sz="1300" dirty="0"/>
          </a:p>
        </p:txBody>
      </p:sp>
      <p:sp>
        <p:nvSpPr>
          <p:cNvPr id="9" name="Text 7"/>
          <p:cNvSpPr/>
          <p:nvPr/>
        </p:nvSpPr>
        <p:spPr>
          <a:xfrm>
            <a:off x="1828800" y="4398264"/>
            <a:ext cx="5486400" cy="27432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  Cyber Helpline: 1930</a:t>
            </a:r>
            <a:endParaRPr lang="en-US" sz="1300" dirty="0"/>
          </a:p>
        </p:txBody>
      </p:sp>
      <p:sp>
        <p:nvSpPr>
          <p:cNvPr id="10" name="Text 8"/>
          <p:cNvSpPr/>
          <p:nvPr/>
        </p:nvSpPr>
        <p:spPr>
          <a:xfrm>
            <a:off x="914400" y="4754880"/>
            <a:ext cx="7315200" cy="274320"/>
          </a:xfrm>
          <a:prstGeom prst="rect">
            <a:avLst/>
          </a:prstGeom>
          <a:noFill/>
          <a:ln/>
        </p:spPr>
        <p:txBody>
          <a:bodyPr wrap="square" rtlCol="0" anchor="ctr"/>
          <a:lstStyle/>
          <a:p>
            <a:pPr algn="ctr" indent="0" marL="0">
              <a:buNone/>
            </a:pPr>
            <a:r>
              <a:rPr lang="en-US" sz="1100" dirty="0">
                <a:solidFill>
                  <a:srgbClr val="1E3A5F"/>
                </a:solidFill>
                <a:latin typeface="Calibri" pitchFamily="34" charset="0"/>
                <a:ea typeface="Calibri" pitchFamily="34" charset="-122"/>
                <a:cs typeface="Calibri" pitchFamily="34" charset="-120"/>
              </a:rPr>
              <a:t>Built for ET AI Hackathon 2.0  ·  PS6 — Digital Public Safety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SafeGuard AI — ET AI Hackathon 2026</dc:title>
  <dc:subject>PptxGenJS Presentation</dc:subject>
  <dc:creator>Sugata Nayak</dc:creator>
  <cp:lastModifiedBy>Sugata Nayak</cp:lastModifiedBy>
  <cp:revision>1</cp:revision>
  <dcterms:created xsi:type="dcterms:W3CDTF">2026-06-29T06:28:54Z</dcterms:created>
  <dcterms:modified xsi:type="dcterms:W3CDTF">2026-06-29T06:28:54Z</dcterms:modified>
</cp:coreProperties>
</file>